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Bonjour à toutes et à tous.</a:t>
            </a:r>
          </a:p>
          <a:p>
            <a:r>
              <a:rPr lang="fr-FR" dirty="0"/>
              <a:t>Je vous présente aujourd'hui le cahier des charges de notre Plateforme Médicale Intégrée, un projet ambitieux visant à transformer profondément la manière dont patients, médecins, hôpitaux et chercheurs interagissent au quotidien.</a:t>
            </a:r>
          </a:p>
          <a:p>
            <a:r>
              <a:rPr lang="fr-FR" dirty="0"/>
              <a:t>Cette présentation synthétise les grandes orientations fonctionnelles et techniques du projet, tel qu'il a été défini au 14 septembre 2025.</a:t>
            </a:r>
          </a:p>
          <a:p>
            <a:r>
              <a:rPr lang="fr-FR" dirty="0"/>
              <a:t>Nous allons parcourir ensemble les dix points clés en quelques minutes.</a:t>
            </a:r>
          </a:p>
          <a:endParaRPr lang="fr-FR" dirty="0"/>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point de départ de ce projet, c'est une vision claire : créer un écosystème de santé numérique sécurisé, centré sur quatre acteurs principaux.</a:t>
            </a:r>
          </a:p>
          <a:p>
            <a:r>
              <a:rPr lang="fr-FR" dirty="0"/>
              <a:t>Les patients, qui bénéficieront d'un accès simplifié à leurs données et d'outils de pré-diagnostic fiables.</a:t>
            </a:r>
          </a:p>
          <a:p>
            <a:r>
              <a:rPr lang="fr-FR" dirty="0"/>
              <a:t>Les médecins, qui disposeront d'une aide à la décision basée sur l'IA pour optimiser leur travail.</a:t>
            </a:r>
          </a:p>
          <a:p>
            <a:r>
              <a:rPr lang="fr-FR" dirty="0"/>
              <a:t>Les hôpitaux, qui pourront centraliser la gestion des données et améliorer leurs workflows.</a:t>
            </a:r>
          </a:p>
          <a:p>
            <a:r>
              <a:rPr lang="fr-FR" dirty="0"/>
              <a:t>Et enfin les chercheurs, qui auront accès à un entrepôt de données anonymisées pour accélérer la recherche médicale dans un cadre éthique strict.</a:t>
            </a:r>
          </a:p>
          <a:endParaRPr lang="fr-FR" dirty="0"/>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plateforme repose sur un système de contrôle d'accès basé sur les rôles — le RBAC — qui définit quatre profils distincts.</a:t>
            </a:r>
          </a:p>
          <a:p>
            <a:r>
              <a:rPr lang="fr-FR" dirty="0"/>
              <a:t>Le patient accède uniquement à son propre dossier et peut interagir avec l'assistant IA.</a:t>
            </a:r>
          </a:p>
          <a:p>
            <a:r>
              <a:rPr lang="fr-FR" dirty="0"/>
              <a:t>Le médecin consulte les dossiers de ses patients sous réserve de leur consentement, utilise les modèles de diagnostic et valide les rapports.</a:t>
            </a:r>
          </a:p>
          <a:p>
            <a:r>
              <a:rPr lang="fr-FR" dirty="0"/>
              <a:t>L'administrateur hôpital supervise les comptes et assure la conformité réglementaire.</a:t>
            </a:r>
          </a:p>
          <a:p>
            <a:r>
              <a:rPr lang="fr-FR" dirty="0"/>
              <a:t>Quant au chercheur, son accès est strictement limité à la base de données anonymisée, avec des outils d'analyse dédiés.</a:t>
            </a:r>
          </a:p>
          <a:p>
            <a:r>
              <a:rPr lang="fr-FR" dirty="0"/>
              <a:t>Chaque rôle est étanche et sécurisé.</a:t>
            </a:r>
          </a:p>
          <a:endParaRPr lang="fr-FR" dirty="0"/>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module de gestion des données est un pilier fondamental de la plateforme.</a:t>
            </a:r>
          </a:p>
          <a:p>
            <a:r>
              <a:rPr lang="fr-FR" dirty="0"/>
              <a:t>Il repose sur trois fonctions essentielles.</a:t>
            </a:r>
          </a:p>
          <a:p>
            <a:r>
              <a:rPr lang="fr-FR" dirty="0"/>
              <a:t>Premièrement, l'importation sécurisée : la plateforme accepte tout type de données médicales — images DICOM, résultats HL7, comptes rendus, données génomiques.</a:t>
            </a:r>
          </a:p>
          <a:p>
            <a:r>
              <a:rPr lang="fr-FR" dirty="0"/>
              <a:t>Deuxièmement, le consentement explicite : chaque partage de donnée, que ce soit avec un médecin ou pour la recherche, nécessite l'accord clair et révocable du patient.</a:t>
            </a:r>
          </a:p>
          <a:p>
            <a:r>
              <a:rPr lang="fr-FR" dirty="0"/>
              <a:t>Troisièmement, l'anonymisation automatique : un moteur robuste supprime ou pseudonymise toutes les données personnelles destinées à la recherche, conformément au RGPD et à l'HIPAA.</a:t>
            </a:r>
          </a:p>
          <a:endParaRPr lang="fr-FR" dirty="0"/>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cœur technologique de la plateforme est son module d'intelligence artificielle diagnostique.</a:t>
            </a:r>
          </a:p>
          <a:p>
            <a:r>
              <a:rPr lang="fr-FR" dirty="0"/>
              <a:t>Il intègre une bibliothèque de modèles pré-entraînés et validés cliniquement, répartis en trois catégories.</a:t>
            </a:r>
          </a:p>
          <a:p>
            <a:r>
              <a:rPr lang="fr-FR" dirty="0"/>
              <a:t>L'analyse d'images pour détecter fractures, tumeurs ou anomalies sur des radios, IRM ou scanners.</a:t>
            </a:r>
          </a:p>
          <a:p>
            <a:r>
              <a:rPr lang="fr-FR" dirty="0"/>
              <a:t>Les modèles prédictifs qui évaluent des risques comme celui de maladie cardiovasculaire à partir de données cliniques structurées.</a:t>
            </a:r>
          </a:p>
          <a:p>
            <a:r>
              <a:rPr lang="fr-FR" dirty="0"/>
              <a:t>Et la classification biologique pour identifier des pathologies à partir de données génomiques ou biologiques.</a:t>
            </a:r>
          </a:p>
          <a:p>
            <a:r>
              <a:rPr lang="fr-FR" dirty="0"/>
              <a:t>Le workflow est simple : le médecin sélectionne le modèle, soumet les données, et reçoit une analyse quasi-instantanée.</a:t>
            </a:r>
          </a:p>
          <a:endParaRPr lang="fr-FR" dirty="0"/>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L'assistant LLM est le module d'interaction centrale entre le patient et la plateforme.</a:t>
            </a:r>
          </a:p>
          <a:p>
            <a:r>
              <a:rPr lang="fr-FR" dirty="0"/>
              <a:t>Il remplit trois fonctions complémentaires.</a:t>
            </a:r>
          </a:p>
          <a:p>
            <a:r>
              <a:rPr lang="fr-FR" dirty="0"/>
              <a:t>La génération de rapports : après une analyse IA, le LLM rédige un pré-rapport en langage clair et compréhensible — mais attention, ce rapport doit impérativement être validé par le médecin avant tout traitement.</a:t>
            </a:r>
          </a:p>
          <a:p>
            <a:r>
              <a:rPr lang="fr-FR" dirty="0"/>
              <a:t>L'interaction intelligente : si des informations manquent, le LLM pose des questions ciblées au patient via un chatbot sécurisé, et peut suggérer des examens complémentaires à transmettre au médecin.</a:t>
            </a:r>
          </a:p>
          <a:p>
            <a:r>
              <a:rPr lang="fr-FR" dirty="0"/>
              <a:t>Enfin, les recommandations thérapeutiques : basées sur le diagnostic validé, elles proposent des options de traitement standard tout en vérifiant les contre-indications et allergies.</a:t>
            </a:r>
          </a:p>
          <a:p>
            <a:r>
              <a:rPr lang="fr-FR" dirty="0"/>
              <a:t>Toujours sous supervision médicale, jamais en substitution.</a:t>
            </a:r>
          </a:p>
          <a:endParaRPr lang="fr-FR" dirty="0"/>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sécurité est une exigence non négociable de cette plateforme.</a:t>
            </a:r>
          </a:p>
          <a:p>
            <a:r>
              <a:rPr lang="fr-FR" dirty="0"/>
              <a:t>Trois piliers la structurent.</a:t>
            </a:r>
          </a:p>
          <a:p>
            <a:r>
              <a:rPr lang="fr-FR" dirty="0"/>
              <a:t>Le chiffrement de bout en bout : toutes les données sont protégées, qu'elles soient stockées sur les serveurs ou transmises sur les réseaux — aucune donnée ne circule en clair.</a:t>
            </a:r>
          </a:p>
          <a:p>
            <a:r>
              <a:rPr lang="fr-FR" dirty="0"/>
              <a:t>La conformité réglementaire : la plateforme est conçue dès sa conception pour respecter le RGPD en Europe et l'HIPAA aux États-Unis, avec une adaptabilité aux réglementations locales.</a:t>
            </a:r>
          </a:p>
          <a:p>
            <a:r>
              <a:rPr lang="fr-FR" dirty="0"/>
              <a:t>Et enfin l'audit et la traçabilité : chaque accès, chaque modification, chaque partage de donnée est journalisé pour garantir une transparence et une responsabilité totales.</a:t>
            </a:r>
          </a:p>
          <a:endParaRPr lang="fr-FR" dirty="0"/>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Sur le plan des performances, la plateforme répond à des exigences élevées.</a:t>
            </a:r>
          </a:p>
          <a:p>
            <a:r>
              <a:rPr lang="fr-FR" dirty="0"/>
              <a:t>Un taux de disponibilité de 99,9% est exigé, soit une accessibilité 24h/24, 7j/7, sans interruption du workflow médical.</a:t>
            </a:r>
          </a:p>
          <a:p>
            <a:r>
              <a:rPr lang="fr-FR" dirty="0"/>
              <a:t>Les analyses des modèles IA et les réponses du LLM doivent être fournies en moins de deux secondes, pour ne pas perturber le rythme de travail des professionnels de santé.</a:t>
            </a:r>
          </a:p>
          <a:p>
            <a:r>
              <a:rPr lang="fr-FR" dirty="0"/>
              <a:t>La plateforme gère quatre rôles distincts avec des droits d'accès cloisonnés, et 100% des données sont chiffrées à tout moment.</a:t>
            </a:r>
          </a:p>
          <a:p>
            <a:r>
              <a:rPr lang="fr-FR" dirty="0"/>
              <a:t>Ces performances ne sont pas optionnelles : elles conditionne la confiance des utilisateurs et la sécurité des patients.</a:t>
            </a:r>
          </a:p>
          <a:endParaRPr lang="fr-FR" dirty="0"/>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conclure sur l'architecture, la plateforme est structurée autour de quatre modules fonctionnels interdépendants : la gestion des utilisateurs et du RBAC, le module de données de santé sécurisées, le moteur d'IA diagnostique, et l'assistant LLM.</a:t>
            </a:r>
          </a:p>
          <a:p>
            <a:r>
              <a:rPr lang="fr-FR" dirty="0"/>
              <a:t>Ces modules s'appuient sur quatre exigences transverses qui les traversent toutes : la sécurité et le chiffrement, la conformité RGPD et HIPAA, l'audit et la traçabilité, et la haute disponibilité à 99,9%.</a:t>
            </a:r>
          </a:p>
          <a:p>
            <a:r>
              <a:rPr lang="fr-FR" dirty="0"/>
              <a:t>C'est cette cohérence entre fonctionnel et non-fonctionnel qui garantit une plateforme robuste, fiable et évolutive.</a:t>
            </a:r>
          </a:p>
          <a:endParaRPr lang="fr-FR" dirty="0"/>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En résumé, ce cahier des charges définit une plateforme médicale de nouvelle génération, construite autour de quatre modules intégrés, d'une sécurité de bout en bout, et de performances adaptées aux exigences du monde médical.</a:t>
            </a:r>
          </a:p>
          <a:p>
            <a:r>
              <a:rPr lang="fr-FR" dirty="0"/>
              <a:t>Le principe directeur est clair : l'intelligence artificielle vient en appui du médecin, jamais en remplacement.</a:t>
            </a:r>
          </a:p>
          <a:p>
            <a:r>
              <a:rPr lang="fr-FR" dirty="0"/>
              <a:t>C'est le médecin qui reste le décideur final, validant chaque rapport et chaque recommandation.</a:t>
            </a:r>
          </a:p>
          <a:p>
            <a:r>
              <a:rPr lang="fr-FR" dirty="0"/>
              <a:t>Nous sommes convaincus que cette plateforme représente une avancée majeure pour tous les acteurs de santé.</a:t>
            </a:r>
          </a:p>
          <a:p>
            <a:r>
              <a:rPr lang="fr-FR" dirty="0"/>
              <a:t>Je vous remercie pour votre attention et je reste disponible pour répondre à vos questions.</a:t>
            </a:r>
          </a:p>
          <a:endParaRPr lang="fr-FR" dirty="0"/>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891B2"/>
          </a:solidFill>
          <a:ln w="12700">
            <a:solidFill>
              <a:srgbClr val="0891B2"/>
            </a:solidFill>
            <a:prstDash val="solid"/>
          </a:ln>
        </p:spPr>
      </p:sp>
      <p:sp>
        <p:nvSpPr>
          <p:cNvPr id="3" name="Shape 1"/>
          <p:cNvSpPr/>
          <p:nvPr/>
        </p:nvSpPr>
        <p:spPr>
          <a:xfrm>
            <a:off x="7132320" y="-731520"/>
            <a:ext cx="3200400" cy="3200400"/>
          </a:xfrm>
          <a:prstGeom prst="ellipse">
            <a:avLst/>
          </a:prstGeom>
          <a:solidFill>
            <a:srgbClr val="0891B2">
              <a:alpha val="15000"/>
            </a:srgbClr>
          </a:solidFill>
          <a:ln w="12700">
            <a:solidFill>
              <a:srgbClr val="0891B2">
                <a:alpha val="30000"/>
              </a:srgbClr>
            </a:solidFill>
            <a:prstDash val="solid"/>
          </a:ln>
        </p:spPr>
      </p:sp>
      <p:sp>
        <p:nvSpPr>
          <p:cNvPr id="4" name="Shape 2"/>
          <p:cNvSpPr/>
          <p:nvPr/>
        </p:nvSpPr>
        <p:spPr>
          <a:xfrm>
            <a:off x="7589520" y="-365760"/>
            <a:ext cx="2286000" cy="2286000"/>
          </a:xfrm>
          <a:prstGeom prst="ellipse">
            <a:avLst/>
          </a:prstGeom>
          <a:solidFill>
            <a:srgbClr val="06B6D4">
              <a:alpha val="20000"/>
            </a:srgbClr>
          </a:solidFill>
          <a:ln w="12700">
            <a:solidFill>
              <a:srgbClr val="06B6D4">
                <a:alpha val="40000"/>
              </a:srgbClr>
            </a:solidFill>
            <a:prstDash val="solid"/>
          </a:ln>
        </p:spPr>
      </p:sp>
      <p:pic>
        <p:nvPicPr>
          <p:cNvPr id="5" name="Image 0" descr="preencoded.png"/>
          <p:cNvPicPr>
            <a:picLocks noChangeAspect="1"/>
          </p:cNvPicPr>
          <p:nvPr/>
        </p:nvPicPr>
        <p:blipFill>
          <a:blip r:embed="rId1"/>
          <a:stretch>
            <a:fillRect/>
          </a:stretch>
        </p:blipFill>
        <p:spPr>
          <a:xfrm>
            <a:off x="457200" y="914400"/>
            <a:ext cx="822960" cy="822960"/>
          </a:xfrm>
          <a:prstGeom prst="rect">
            <a:avLst/>
          </a:prstGeom>
        </p:spPr>
      </p:pic>
      <p:sp>
        <p:nvSpPr>
          <p:cNvPr id="6" name="Text 3"/>
          <p:cNvSpPr/>
          <p:nvPr/>
        </p:nvSpPr>
        <p:spPr>
          <a:xfrm>
            <a:off x="320040" y="1737360"/>
            <a:ext cx="7772400" cy="86868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Plateforme Médicale Intégrée</a:t>
            </a:r>
            <a:endParaRPr lang="en-US" sz="3800" dirty="0"/>
          </a:p>
        </p:txBody>
      </p:sp>
      <p:sp>
        <p:nvSpPr>
          <p:cNvPr id="7" name="Text 4"/>
          <p:cNvSpPr/>
          <p:nvPr/>
        </p:nvSpPr>
        <p:spPr>
          <a:xfrm>
            <a:off x="320040" y="2651760"/>
            <a:ext cx="6858000" cy="502920"/>
          </a:xfrm>
          <a:prstGeom prst="rect">
            <a:avLst/>
          </a:prstGeom>
          <a:noFill/>
          <a:ln/>
        </p:spPr>
        <p:txBody>
          <a:bodyPr wrap="square" lIns="0" tIns="0" rIns="0" bIns="0" rtlCol="0" anchor="ctr"/>
          <a:lstStyle/>
          <a:p>
            <a:pPr indent="0" marL="0">
              <a:buNone/>
            </a:pPr>
            <a:r>
              <a:rPr lang="en-US" sz="1700" dirty="0">
                <a:solidFill>
                  <a:srgbClr val="A5D8E6"/>
                </a:solidFill>
                <a:latin typeface="Calibri" pitchFamily="34" charset="0"/>
                <a:ea typeface="Calibri" pitchFamily="34" charset="-122"/>
                <a:cs typeface="Calibri" pitchFamily="34" charset="-120"/>
              </a:rPr>
              <a:t>Cahier des Charges — Présentation Synthétique</a:t>
            </a:r>
            <a:endParaRPr lang="en-US" sz="1700" dirty="0"/>
          </a:p>
        </p:txBody>
      </p:sp>
      <p:sp>
        <p:nvSpPr>
          <p:cNvPr id="8" name="Shape 5"/>
          <p:cNvSpPr/>
          <p:nvPr/>
        </p:nvSpPr>
        <p:spPr>
          <a:xfrm>
            <a:off x="320040" y="4160520"/>
            <a:ext cx="2560320" cy="914"/>
          </a:xfrm>
          <a:prstGeom prst="rect">
            <a:avLst/>
          </a:prstGeom>
          <a:solidFill>
            <a:srgbClr val="0891B2"/>
          </a:solidFill>
          <a:ln w="12700">
            <a:solidFill>
              <a:srgbClr val="0891B2"/>
            </a:solidFill>
            <a:prstDash val="solid"/>
          </a:ln>
        </p:spPr>
      </p:sp>
      <p:sp>
        <p:nvSpPr>
          <p:cNvPr id="9" name="Text 6"/>
          <p:cNvSpPr/>
          <p:nvPr/>
        </p:nvSpPr>
        <p:spPr>
          <a:xfrm>
            <a:off x="320040" y="4297680"/>
            <a:ext cx="2743200" cy="365760"/>
          </a:xfrm>
          <a:prstGeom prst="rect">
            <a:avLst/>
          </a:prstGeom>
          <a:noFill/>
          <a:ln/>
        </p:spPr>
        <p:txBody>
          <a:bodyPr wrap="square" lIns="0" tIns="0" rIns="0" bIns="0" rtlCol="0" anchor="ctr"/>
          <a:lstStyle/>
          <a:p>
            <a:pPr indent="0" marL="0">
              <a:buNone/>
            </a:pPr>
            <a:r>
              <a:rPr lang="en-US" sz="1200" dirty="0">
                <a:solidFill>
                  <a:srgbClr val="7FB3C8"/>
                </a:solidFill>
                <a:latin typeface="Calibri" pitchFamily="34" charset="0"/>
                <a:ea typeface="Calibri" pitchFamily="34" charset="-122"/>
                <a:cs typeface="Calibri" pitchFamily="34" charset="-120"/>
              </a:rPr>
              <a:t>14 septembre 2025</a:t>
            </a:r>
            <a:endParaRPr lang="en-US" sz="1200" dirty="0"/>
          </a:p>
        </p:txBody>
      </p:sp>
      <p:sp>
        <p:nvSpPr>
          <p:cNvPr id="10" name="Text 7"/>
          <p:cNvSpPr/>
          <p:nvPr/>
        </p:nvSpPr>
        <p:spPr>
          <a:xfrm>
            <a:off x="5943600" y="4297680"/>
            <a:ext cx="2926080" cy="365760"/>
          </a:xfrm>
          <a:prstGeom prst="rect">
            <a:avLst/>
          </a:prstGeom>
          <a:noFill/>
          <a:ln/>
        </p:spPr>
        <p:txBody>
          <a:bodyPr wrap="square" lIns="0" tIns="0" rIns="0" bIns="0" rtlCol="0" anchor="ctr"/>
          <a:lstStyle/>
          <a:p>
            <a:pPr algn="r" indent="0" marL="0">
              <a:buNone/>
            </a:pPr>
            <a:r>
              <a:rPr lang="en-US" sz="1100" dirty="0">
                <a:solidFill>
                  <a:srgbClr val="5A8FA3"/>
                </a:solidFill>
                <a:latin typeface="Calibri" pitchFamily="34" charset="0"/>
                <a:ea typeface="Calibri" pitchFamily="34" charset="-122"/>
                <a:cs typeface="Calibri" pitchFamily="34" charset="-120"/>
              </a:rPr>
              <a:t>Confidentiel — Usage Interne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VISION DU PROJET</a:t>
            </a:r>
            <a:endParaRPr lang="en-US" sz="1500" dirty="0"/>
          </a:p>
        </p:txBody>
      </p:sp>
      <p:sp>
        <p:nvSpPr>
          <p:cNvPr id="4" name="Text 2"/>
          <p:cNvSpPr/>
          <p:nvPr/>
        </p:nvSpPr>
        <p:spPr>
          <a:xfrm>
            <a:off x="365760" y="822960"/>
            <a:ext cx="8412480" cy="914400"/>
          </a:xfrm>
          <a:prstGeom prst="rect">
            <a:avLst/>
          </a:prstGeom>
          <a:noFill/>
          <a:ln/>
        </p:spPr>
        <p:txBody>
          <a:bodyPr wrap="square"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Créer un écosystème de santé numérique sécurisé qui connecte les acteurs clés de la santé, accélère le diagnostic et personnalise les soins grâce à l'intelligence artificielle.</a:t>
            </a:r>
            <a:endParaRPr lang="en-US" sz="1400" dirty="0"/>
          </a:p>
        </p:txBody>
      </p:sp>
      <p:sp>
        <p:nvSpPr>
          <p:cNvPr id="5" name="Shape 3"/>
          <p:cNvSpPr/>
          <p:nvPr/>
        </p:nvSpPr>
        <p:spPr>
          <a:xfrm>
            <a:off x="274320" y="1874520"/>
            <a:ext cx="1993392" cy="2743200"/>
          </a:xfrm>
          <a:prstGeom prst="rect">
            <a:avLst/>
          </a:prstGeom>
          <a:solidFill>
            <a:srgbClr val="0891B2"/>
          </a:solidFill>
          <a:ln w="12700">
            <a:solidFill>
              <a:srgbClr val="0891B2"/>
            </a:solidFill>
            <a:prstDash val="solid"/>
          </a:ln>
          <a:effectLst>
            <a:outerShdw sx="100000" sy="100000" kx="0" ky="0" algn="bl" rotWithShape="0" blurRad="101600" dist="38100" dir="8100000">
              <a:srgbClr val="000000">
                <a:alpha val="15000"/>
              </a:srgbClr>
            </a:outerShdw>
          </a:effectLst>
        </p:spPr>
      </p:sp>
      <p:sp>
        <p:nvSpPr>
          <p:cNvPr id="6" name="Shape 4"/>
          <p:cNvSpPr/>
          <p:nvPr/>
        </p:nvSpPr>
        <p:spPr>
          <a:xfrm>
            <a:off x="274320" y="1874520"/>
            <a:ext cx="1993392" cy="502920"/>
          </a:xfrm>
          <a:prstGeom prst="rect">
            <a:avLst/>
          </a:prstGeom>
          <a:solidFill>
            <a:srgbClr val="000000">
              <a:alpha val="70000"/>
            </a:srgbClr>
          </a:solidFill>
          <a:ln w="12700">
            <a:solidFill>
              <a:srgbClr val="000000">
                <a:alpha val="1000"/>
              </a:srgbClr>
            </a:solidFill>
            <a:prstDash val="solid"/>
          </a:ln>
        </p:spPr>
      </p:sp>
      <p:sp>
        <p:nvSpPr>
          <p:cNvPr id="7" name="Text 5"/>
          <p:cNvSpPr/>
          <p:nvPr/>
        </p:nvSpPr>
        <p:spPr>
          <a:xfrm>
            <a:off x="274320" y="1874520"/>
            <a:ext cx="1993392"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Patients</a:t>
            </a:r>
            <a:endParaRPr lang="en-US" sz="1300" dirty="0"/>
          </a:p>
        </p:txBody>
      </p:sp>
      <p:sp>
        <p:nvSpPr>
          <p:cNvPr id="8" name="Text 6"/>
          <p:cNvSpPr/>
          <p:nvPr/>
        </p:nvSpPr>
        <p:spPr>
          <a:xfrm>
            <a:off x="365760" y="2450592"/>
            <a:ext cx="1810512" cy="20116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Accès simplifié aux données, pré-diagnostic fiable, communication médecin</a:t>
            </a:r>
            <a:endParaRPr lang="en-US" sz="1100" dirty="0"/>
          </a:p>
        </p:txBody>
      </p:sp>
      <p:sp>
        <p:nvSpPr>
          <p:cNvPr id="9" name="Shape 7"/>
          <p:cNvSpPr/>
          <p:nvPr/>
        </p:nvSpPr>
        <p:spPr>
          <a:xfrm>
            <a:off x="2450592" y="1874520"/>
            <a:ext cx="1993392" cy="2743200"/>
          </a:xfrm>
          <a:prstGeom prst="rect">
            <a:avLst/>
          </a:prstGeom>
          <a:solidFill>
            <a:srgbClr val="0369A1"/>
          </a:solidFill>
          <a:ln w="12700">
            <a:solidFill>
              <a:srgbClr val="0369A1"/>
            </a:solidFill>
            <a:prstDash val="solid"/>
          </a:ln>
          <a:effectLst>
            <a:outerShdw sx="100000" sy="100000" kx="0" ky="0" algn="bl" rotWithShape="0" blurRad="101600" dist="38100" dir="8100000">
              <a:srgbClr val="000000">
                <a:alpha val="15000"/>
              </a:srgbClr>
            </a:outerShdw>
          </a:effectLst>
        </p:spPr>
      </p:sp>
      <p:sp>
        <p:nvSpPr>
          <p:cNvPr id="10" name="Shape 8"/>
          <p:cNvSpPr/>
          <p:nvPr/>
        </p:nvSpPr>
        <p:spPr>
          <a:xfrm>
            <a:off x="2450592" y="1874520"/>
            <a:ext cx="1993392" cy="502920"/>
          </a:xfrm>
          <a:prstGeom prst="rect">
            <a:avLst/>
          </a:prstGeom>
          <a:solidFill>
            <a:srgbClr val="000000">
              <a:alpha val="70000"/>
            </a:srgbClr>
          </a:solidFill>
          <a:ln w="12700">
            <a:solidFill>
              <a:srgbClr val="000000">
                <a:alpha val="1000"/>
              </a:srgbClr>
            </a:solidFill>
            <a:prstDash val="solid"/>
          </a:ln>
        </p:spPr>
      </p:sp>
      <p:sp>
        <p:nvSpPr>
          <p:cNvPr id="11" name="Text 9"/>
          <p:cNvSpPr/>
          <p:nvPr/>
        </p:nvSpPr>
        <p:spPr>
          <a:xfrm>
            <a:off x="2450592" y="1874520"/>
            <a:ext cx="1993392"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Médecins</a:t>
            </a:r>
            <a:endParaRPr lang="en-US" sz="1300" dirty="0"/>
          </a:p>
        </p:txBody>
      </p:sp>
      <p:sp>
        <p:nvSpPr>
          <p:cNvPr id="12" name="Text 10"/>
          <p:cNvSpPr/>
          <p:nvPr/>
        </p:nvSpPr>
        <p:spPr>
          <a:xfrm>
            <a:off x="2542032" y="2450592"/>
            <a:ext cx="1810512" cy="20116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Outils IA d'aide à la décision, optimisation du diagnostic, suivi patient</a:t>
            </a:r>
            <a:endParaRPr lang="en-US" sz="1100" dirty="0"/>
          </a:p>
        </p:txBody>
      </p:sp>
      <p:sp>
        <p:nvSpPr>
          <p:cNvPr id="13" name="Shape 11"/>
          <p:cNvSpPr/>
          <p:nvPr/>
        </p:nvSpPr>
        <p:spPr>
          <a:xfrm>
            <a:off x="4626864" y="1874520"/>
            <a:ext cx="1993392" cy="2743200"/>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5000"/>
              </a:srgbClr>
            </a:outerShdw>
          </a:effectLst>
        </p:spPr>
      </p:sp>
      <p:sp>
        <p:nvSpPr>
          <p:cNvPr id="14" name="Shape 12"/>
          <p:cNvSpPr/>
          <p:nvPr/>
        </p:nvSpPr>
        <p:spPr>
          <a:xfrm>
            <a:off x="4626864" y="1874520"/>
            <a:ext cx="1993392" cy="502920"/>
          </a:xfrm>
          <a:prstGeom prst="rect">
            <a:avLst/>
          </a:prstGeom>
          <a:solidFill>
            <a:srgbClr val="000000">
              <a:alpha val="70000"/>
            </a:srgbClr>
          </a:solidFill>
          <a:ln w="12700">
            <a:solidFill>
              <a:srgbClr val="000000">
                <a:alpha val="1000"/>
              </a:srgbClr>
            </a:solidFill>
            <a:prstDash val="solid"/>
          </a:ln>
        </p:spPr>
      </p:sp>
      <p:sp>
        <p:nvSpPr>
          <p:cNvPr id="15" name="Text 13"/>
          <p:cNvSpPr/>
          <p:nvPr/>
        </p:nvSpPr>
        <p:spPr>
          <a:xfrm>
            <a:off x="4626864" y="1874520"/>
            <a:ext cx="1993392"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Hôpitaux</a:t>
            </a:r>
            <a:endParaRPr lang="en-US" sz="1300" dirty="0"/>
          </a:p>
        </p:txBody>
      </p:sp>
      <p:sp>
        <p:nvSpPr>
          <p:cNvPr id="16" name="Text 14"/>
          <p:cNvSpPr/>
          <p:nvPr/>
        </p:nvSpPr>
        <p:spPr>
          <a:xfrm>
            <a:off x="4718304" y="2450592"/>
            <a:ext cx="1810512" cy="20116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Plateforme centralisée, workflows améliorés, sécurité renforcée</a:t>
            </a:r>
            <a:endParaRPr lang="en-US" sz="1100" dirty="0"/>
          </a:p>
        </p:txBody>
      </p:sp>
      <p:sp>
        <p:nvSpPr>
          <p:cNvPr id="17" name="Shape 15"/>
          <p:cNvSpPr/>
          <p:nvPr/>
        </p:nvSpPr>
        <p:spPr>
          <a:xfrm>
            <a:off x="6803136" y="1874520"/>
            <a:ext cx="1993392" cy="2743200"/>
          </a:xfrm>
          <a:prstGeom prst="rect">
            <a:avLst/>
          </a:prstGeom>
          <a:solidFill>
            <a:srgbClr val="0F766E"/>
          </a:solidFill>
          <a:ln w="12700">
            <a:solidFill>
              <a:srgbClr val="0F766E"/>
            </a:solidFill>
            <a:prstDash val="solid"/>
          </a:ln>
          <a:effectLst>
            <a:outerShdw sx="100000" sy="100000" kx="0" ky="0" algn="bl" rotWithShape="0" blurRad="101600" dist="38100" dir="8100000">
              <a:srgbClr val="000000">
                <a:alpha val="15000"/>
              </a:srgbClr>
            </a:outerShdw>
          </a:effectLst>
        </p:spPr>
      </p:sp>
      <p:sp>
        <p:nvSpPr>
          <p:cNvPr id="18" name="Shape 16"/>
          <p:cNvSpPr/>
          <p:nvPr/>
        </p:nvSpPr>
        <p:spPr>
          <a:xfrm>
            <a:off x="6803136" y="1874520"/>
            <a:ext cx="1993392" cy="502920"/>
          </a:xfrm>
          <a:prstGeom prst="rect">
            <a:avLst/>
          </a:prstGeom>
          <a:solidFill>
            <a:srgbClr val="000000">
              <a:alpha val="70000"/>
            </a:srgbClr>
          </a:solidFill>
          <a:ln w="12700">
            <a:solidFill>
              <a:srgbClr val="000000">
                <a:alpha val="1000"/>
              </a:srgbClr>
            </a:solidFill>
            <a:prstDash val="solid"/>
          </a:ln>
        </p:spPr>
      </p:sp>
      <p:sp>
        <p:nvSpPr>
          <p:cNvPr id="19" name="Text 17"/>
          <p:cNvSpPr/>
          <p:nvPr/>
        </p:nvSpPr>
        <p:spPr>
          <a:xfrm>
            <a:off x="6803136" y="1874520"/>
            <a:ext cx="1993392"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Chercheurs</a:t>
            </a:r>
            <a:endParaRPr lang="en-US" sz="1300" dirty="0"/>
          </a:p>
        </p:txBody>
      </p:sp>
      <p:sp>
        <p:nvSpPr>
          <p:cNvPr id="20" name="Text 18"/>
          <p:cNvSpPr/>
          <p:nvPr/>
        </p:nvSpPr>
        <p:spPr>
          <a:xfrm>
            <a:off x="6894576" y="2450592"/>
            <a:ext cx="1810512" cy="20116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Accès à un entrepôt de données anonymisées dans un cadre éthique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GESTION DES UTILISATEURS &amp; RÔLES (RBAC)</a:t>
            </a:r>
            <a:endParaRPr lang="en-US" sz="1400" dirty="0"/>
          </a:p>
        </p:txBody>
      </p:sp>
      <p:sp>
        <p:nvSpPr>
          <p:cNvPr id="4" name="Shape 2"/>
          <p:cNvSpPr/>
          <p:nvPr/>
        </p:nvSpPr>
        <p:spPr>
          <a:xfrm>
            <a:off x="228600" y="777240"/>
            <a:ext cx="2011680" cy="594360"/>
          </a:xfrm>
          <a:prstGeom prst="rect">
            <a:avLst/>
          </a:prstGeom>
          <a:solidFill>
            <a:srgbClr val="0891B2"/>
          </a:solidFill>
          <a:ln w="12700">
            <a:solidFill>
              <a:srgbClr val="0891B2"/>
            </a:solidFill>
            <a:prstDash val="solid"/>
          </a:ln>
        </p:spPr>
      </p:sp>
      <p:sp>
        <p:nvSpPr>
          <p:cNvPr id="5" name="Text 3"/>
          <p:cNvSpPr/>
          <p:nvPr/>
        </p:nvSpPr>
        <p:spPr>
          <a:xfrm>
            <a:off x="228600" y="777240"/>
            <a:ext cx="201168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Patient</a:t>
            </a:r>
            <a:endParaRPr lang="en-US" sz="1300" dirty="0"/>
          </a:p>
        </p:txBody>
      </p:sp>
      <p:pic>
        <p:nvPicPr>
          <p:cNvPr id="6" name="Image 0" descr="preencoded.png"/>
          <p:cNvPicPr>
            <a:picLocks noChangeAspect="1"/>
          </p:cNvPicPr>
          <p:nvPr/>
        </p:nvPicPr>
        <p:blipFill>
          <a:blip r:embed="rId1"/>
          <a:stretch>
            <a:fillRect/>
          </a:stretch>
        </p:blipFill>
        <p:spPr>
          <a:xfrm>
            <a:off x="1005840" y="1463040"/>
            <a:ext cx="457200" cy="457200"/>
          </a:xfrm>
          <a:prstGeom prst="rect">
            <a:avLst/>
          </a:prstGeom>
        </p:spPr>
      </p:pic>
      <p:sp>
        <p:nvSpPr>
          <p:cNvPr id="7" name="Text 4"/>
          <p:cNvSpPr/>
          <p:nvPr/>
        </p:nvSpPr>
        <p:spPr>
          <a:xfrm>
            <a:off x="274320" y="2011680"/>
            <a:ext cx="1920240" cy="283464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Accès à son propre dossier</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Import de données personnelles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Interaction avec l'assistant IA</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Communication avec le médecin</a:t>
            </a:r>
            <a:endParaRPr lang="en-US" sz="1100" dirty="0"/>
          </a:p>
        </p:txBody>
      </p:sp>
      <p:sp>
        <p:nvSpPr>
          <p:cNvPr id="8" name="Shape 5"/>
          <p:cNvSpPr/>
          <p:nvPr/>
        </p:nvSpPr>
        <p:spPr>
          <a:xfrm>
            <a:off x="2423160" y="777240"/>
            <a:ext cx="2011680" cy="594360"/>
          </a:xfrm>
          <a:prstGeom prst="rect">
            <a:avLst/>
          </a:prstGeom>
          <a:solidFill>
            <a:srgbClr val="0369A1"/>
          </a:solidFill>
          <a:ln w="12700">
            <a:solidFill>
              <a:srgbClr val="0369A1"/>
            </a:solidFill>
            <a:prstDash val="solid"/>
          </a:ln>
        </p:spPr>
      </p:sp>
      <p:sp>
        <p:nvSpPr>
          <p:cNvPr id="9" name="Text 6"/>
          <p:cNvSpPr/>
          <p:nvPr/>
        </p:nvSpPr>
        <p:spPr>
          <a:xfrm>
            <a:off x="2423160" y="777240"/>
            <a:ext cx="201168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Médecin</a:t>
            </a:r>
            <a:endParaRPr lang="en-US" sz="1300" dirty="0"/>
          </a:p>
        </p:txBody>
      </p:sp>
      <p:pic>
        <p:nvPicPr>
          <p:cNvPr id="10" name="Image 1" descr="preencoded.png"/>
          <p:cNvPicPr>
            <a:picLocks noChangeAspect="1"/>
          </p:cNvPicPr>
          <p:nvPr/>
        </p:nvPicPr>
        <p:blipFill>
          <a:blip r:embed="rId2"/>
          <a:stretch>
            <a:fillRect/>
          </a:stretch>
        </p:blipFill>
        <p:spPr>
          <a:xfrm>
            <a:off x="3200400" y="1463040"/>
            <a:ext cx="457200" cy="457200"/>
          </a:xfrm>
          <a:prstGeom prst="rect">
            <a:avLst/>
          </a:prstGeom>
        </p:spPr>
      </p:pic>
      <p:sp>
        <p:nvSpPr>
          <p:cNvPr id="11" name="Text 7"/>
          <p:cNvSpPr/>
          <p:nvPr/>
        </p:nvSpPr>
        <p:spPr>
          <a:xfrm>
            <a:off x="2468880" y="2011680"/>
            <a:ext cx="1920240" cy="283464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Accès dossiers patients (consentement)</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Utilisation des modèles IA</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Validation des rapports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Communication avec les patients</a:t>
            </a:r>
            <a:endParaRPr lang="en-US" sz="1100" dirty="0"/>
          </a:p>
        </p:txBody>
      </p:sp>
      <p:sp>
        <p:nvSpPr>
          <p:cNvPr id="12" name="Shape 8"/>
          <p:cNvSpPr/>
          <p:nvPr/>
        </p:nvSpPr>
        <p:spPr>
          <a:xfrm>
            <a:off x="4617720" y="777240"/>
            <a:ext cx="2011680" cy="594360"/>
          </a:xfrm>
          <a:prstGeom prst="rect">
            <a:avLst/>
          </a:prstGeom>
          <a:solidFill>
            <a:srgbClr val="7C3AED"/>
          </a:solidFill>
          <a:ln w="12700">
            <a:solidFill>
              <a:srgbClr val="7C3AED"/>
            </a:solidFill>
            <a:prstDash val="solid"/>
          </a:ln>
        </p:spPr>
      </p:sp>
      <p:sp>
        <p:nvSpPr>
          <p:cNvPr id="13" name="Text 9"/>
          <p:cNvSpPr/>
          <p:nvPr/>
        </p:nvSpPr>
        <p:spPr>
          <a:xfrm>
            <a:off x="4617720" y="777240"/>
            <a:ext cx="201168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Admin Hôpital</a:t>
            </a:r>
            <a:endParaRPr lang="en-US" sz="1300" dirty="0"/>
          </a:p>
        </p:txBody>
      </p:sp>
      <p:pic>
        <p:nvPicPr>
          <p:cNvPr id="14" name="Image 2" descr="preencoded.png"/>
          <p:cNvPicPr>
            <a:picLocks noChangeAspect="1"/>
          </p:cNvPicPr>
          <p:nvPr/>
        </p:nvPicPr>
        <p:blipFill>
          <a:blip r:embed="rId3"/>
          <a:stretch>
            <a:fillRect/>
          </a:stretch>
        </p:blipFill>
        <p:spPr>
          <a:xfrm>
            <a:off x="5394960" y="1463040"/>
            <a:ext cx="457200" cy="457200"/>
          </a:xfrm>
          <a:prstGeom prst="rect">
            <a:avLst/>
          </a:prstGeom>
        </p:spPr>
      </p:pic>
      <p:sp>
        <p:nvSpPr>
          <p:cNvPr id="15" name="Text 10"/>
          <p:cNvSpPr/>
          <p:nvPr/>
        </p:nvSpPr>
        <p:spPr>
          <a:xfrm>
            <a:off x="4663440" y="2011680"/>
            <a:ext cx="1920240" cy="283464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Gestion des comptes médecins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Supervision des flux de données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Conformité réglementaire</a:t>
            </a:r>
            <a:endParaRPr lang="en-US" sz="1100" dirty="0"/>
          </a:p>
        </p:txBody>
      </p:sp>
      <p:sp>
        <p:nvSpPr>
          <p:cNvPr id="16" name="Shape 11"/>
          <p:cNvSpPr/>
          <p:nvPr/>
        </p:nvSpPr>
        <p:spPr>
          <a:xfrm>
            <a:off x="6812280" y="777240"/>
            <a:ext cx="2011680" cy="594360"/>
          </a:xfrm>
          <a:prstGeom prst="rect">
            <a:avLst/>
          </a:prstGeom>
          <a:solidFill>
            <a:srgbClr val="0F766E"/>
          </a:solidFill>
          <a:ln w="12700">
            <a:solidFill>
              <a:srgbClr val="0F766E"/>
            </a:solidFill>
            <a:prstDash val="solid"/>
          </a:ln>
        </p:spPr>
      </p:sp>
      <p:sp>
        <p:nvSpPr>
          <p:cNvPr id="17" name="Text 12"/>
          <p:cNvSpPr/>
          <p:nvPr/>
        </p:nvSpPr>
        <p:spPr>
          <a:xfrm>
            <a:off x="6812280" y="777240"/>
            <a:ext cx="201168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Chercheur</a:t>
            </a:r>
            <a:endParaRPr lang="en-US" sz="1300" dirty="0"/>
          </a:p>
        </p:txBody>
      </p:sp>
      <p:pic>
        <p:nvPicPr>
          <p:cNvPr id="18" name="Image 3" descr="preencoded.png"/>
          <p:cNvPicPr>
            <a:picLocks noChangeAspect="1"/>
          </p:cNvPicPr>
          <p:nvPr/>
        </p:nvPicPr>
        <p:blipFill>
          <a:blip r:embed="rId4"/>
          <a:stretch>
            <a:fillRect/>
          </a:stretch>
        </p:blipFill>
        <p:spPr>
          <a:xfrm>
            <a:off x="7589520" y="1463040"/>
            <a:ext cx="457200" cy="457200"/>
          </a:xfrm>
          <a:prstGeom prst="rect">
            <a:avLst/>
          </a:prstGeom>
        </p:spPr>
      </p:pic>
      <p:sp>
        <p:nvSpPr>
          <p:cNvPr id="19" name="Text 13"/>
          <p:cNvSpPr/>
          <p:nvPr/>
        </p:nvSpPr>
        <p:spPr>
          <a:xfrm>
            <a:off x="6858000" y="2011680"/>
            <a:ext cx="1920240" cy="283464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Accès données anonymisées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Outils de requête et d'analyse</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Cadre éthique strict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MODULE DE GESTION DES DONNÉES DE SANTÉ</a:t>
            </a:r>
            <a:endParaRPr lang="en-US" sz="1400" dirty="0"/>
          </a:p>
        </p:txBody>
      </p:sp>
      <p:sp>
        <p:nvSpPr>
          <p:cNvPr id="4" name="Shape 2"/>
          <p:cNvSpPr/>
          <p:nvPr/>
        </p:nvSpPr>
        <p:spPr>
          <a:xfrm>
            <a:off x="365760" y="777240"/>
            <a:ext cx="2651760" cy="548640"/>
          </a:xfrm>
          <a:prstGeom prst="rect">
            <a:avLst/>
          </a:prstGeom>
          <a:solidFill>
            <a:srgbClr val="0284C7"/>
          </a:solidFill>
          <a:ln w="12700">
            <a:solidFill>
              <a:srgbClr val="0284C7"/>
            </a:solidFill>
            <a:prstDash val="solid"/>
          </a:ln>
        </p:spPr>
      </p:sp>
      <p:sp>
        <p:nvSpPr>
          <p:cNvPr id="5" name="Text 3"/>
          <p:cNvSpPr/>
          <p:nvPr/>
        </p:nvSpPr>
        <p:spPr>
          <a:xfrm>
            <a:off x="365760" y="777240"/>
            <a:ext cx="26517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Importation Sécurisée</a:t>
            </a:r>
            <a:endParaRPr lang="en-US" sz="1200" dirty="0"/>
          </a:p>
        </p:txBody>
      </p:sp>
      <p:sp>
        <p:nvSpPr>
          <p:cNvPr id="6" name="Shape 4"/>
          <p:cNvSpPr/>
          <p:nvPr/>
        </p:nvSpPr>
        <p:spPr>
          <a:xfrm>
            <a:off x="365760" y="1325880"/>
            <a:ext cx="2651760" cy="3474720"/>
          </a:xfrm>
          <a:prstGeom prst="rect">
            <a:avLst/>
          </a:prstGeom>
          <a:solidFill>
            <a:srgbClr val="E2E8F0"/>
          </a:solidFill>
          <a:ln w="12700">
            <a:solidFill>
              <a:srgbClr val="D1D5DB"/>
            </a:solidFill>
            <a:prstDash val="solid"/>
          </a:ln>
        </p:spPr>
      </p:sp>
      <p:sp>
        <p:nvSpPr>
          <p:cNvPr id="7" name="Text 5"/>
          <p:cNvSpPr/>
          <p:nvPr/>
        </p:nvSpPr>
        <p:spPr>
          <a:xfrm>
            <a:off x="502920" y="1508760"/>
            <a:ext cx="2377440" cy="3108960"/>
          </a:xfrm>
          <a:prstGeom prst="rect">
            <a:avLst/>
          </a:prstGeom>
          <a:noFill/>
          <a:ln/>
        </p:spPr>
        <p:txBody>
          <a:bodyPr wrap="square"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Imagerie médicale (DICOM)</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Résultats de labo (PDF, HL7)</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Comptes rendus cliniques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Données génomiques</a:t>
            </a:r>
            <a:endParaRPr lang="en-US" sz="1200" dirty="0"/>
          </a:p>
        </p:txBody>
      </p:sp>
      <p:sp>
        <p:nvSpPr>
          <p:cNvPr id="8" name="Shape 6"/>
          <p:cNvSpPr/>
          <p:nvPr/>
        </p:nvSpPr>
        <p:spPr>
          <a:xfrm>
            <a:off x="3246120" y="777240"/>
            <a:ext cx="2651760" cy="548640"/>
          </a:xfrm>
          <a:prstGeom prst="rect">
            <a:avLst/>
          </a:prstGeom>
          <a:solidFill>
            <a:srgbClr val="0891B2"/>
          </a:solidFill>
          <a:ln w="12700">
            <a:solidFill>
              <a:srgbClr val="0891B2"/>
            </a:solidFill>
            <a:prstDash val="solid"/>
          </a:ln>
        </p:spPr>
      </p:sp>
      <p:sp>
        <p:nvSpPr>
          <p:cNvPr id="9" name="Text 7"/>
          <p:cNvSpPr/>
          <p:nvPr/>
        </p:nvSpPr>
        <p:spPr>
          <a:xfrm>
            <a:off x="3246120" y="777240"/>
            <a:ext cx="26517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Consentement Explicite</a:t>
            </a:r>
            <a:endParaRPr lang="en-US" sz="1200" dirty="0"/>
          </a:p>
        </p:txBody>
      </p:sp>
      <p:sp>
        <p:nvSpPr>
          <p:cNvPr id="10" name="Shape 8"/>
          <p:cNvSpPr/>
          <p:nvPr/>
        </p:nvSpPr>
        <p:spPr>
          <a:xfrm>
            <a:off x="3246120" y="1325880"/>
            <a:ext cx="2651760" cy="3474720"/>
          </a:xfrm>
          <a:prstGeom prst="rect">
            <a:avLst/>
          </a:prstGeom>
          <a:solidFill>
            <a:srgbClr val="E2E8F0"/>
          </a:solidFill>
          <a:ln w="12700">
            <a:solidFill>
              <a:srgbClr val="D1D5DB"/>
            </a:solidFill>
            <a:prstDash val="solid"/>
          </a:ln>
        </p:spPr>
      </p:sp>
      <p:sp>
        <p:nvSpPr>
          <p:cNvPr id="11" name="Text 9"/>
          <p:cNvSpPr/>
          <p:nvPr/>
        </p:nvSpPr>
        <p:spPr>
          <a:xfrm>
            <a:off x="3383280" y="1508760"/>
            <a:ext cx="2377440" cy="3108960"/>
          </a:xfrm>
          <a:prstGeom prst="rect">
            <a:avLst/>
          </a:prstGeom>
          <a:noFill/>
          <a:ln/>
        </p:spPr>
        <p:txBody>
          <a:bodyPr wrap="square"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Consentement clair &amp; révocable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Requis pour chaque partage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Partage médecin ou recherche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Traçabilité des accords</a:t>
            </a:r>
            <a:endParaRPr lang="en-US" sz="1200" dirty="0"/>
          </a:p>
        </p:txBody>
      </p:sp>
      <p:sp>
        <p:nvSpPr>
          <p:cNvPr id="12" name="Shape 10"/>
          <p:cNvSpPr/>
          <p:nvPr/>
        </p:nvSpPr>
        <p:spPr>
          <a:xfrm>
            <a:off x="6126480" y="777240"/>
            <a:ext cx="2651760" cy="548640"/>
          </a:xfrm>
          <a:prstGeom prst="rect">
            <a:avLst/>
          </a:prstGeom>
          <a:solidFill>
            <a:srgbClr val="0F766E"/>
          </a:solidFill>
          <a:ln w="12700">
            <a:solidFill>
              <a:srgbClr val="0F766E"/>
            </a:solidFill>
            <a:prstDash val="solid"/>
          </a:ln>
        </p:spPr>
      </p:sp>
      <p:sp>
        <p:nvSpPr>
          <p:cNvPr id="13" name="Text 11"/>
          <p:cNvSpPr/>
          <p:nvPr/>
        </p:nvSpPr>
        <p:spPr>
          <a:xfrm>
            <a:off x="6126480" y="777240"/>
            <a:ext cx="265176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Anonymisation Auto.</a:t>
            </a:r>
            <a:endParaRPr lang="en-US" sz="1200" dirty="0"/>
          </a:p>
        </p:txBody>
      </p:sp>
      <p:sp>
        <p:nvSpPr>
          <p:cNvPr id="14" name="Shape 12"/>
          <p:cNvSpPr/>
          <p:nvPr/>
        </p:nvSpPr>
        <p:spPr>
          <a:xfrm>
            <a:off x="6126480" y="1325880"/>
            <a:ext cx="2651760" cy="3474720"/>
          </a:xfrm>
          <a:prstGeom prst="rect">
            <a:avLst/>
          </a:prstGeom>
          <a:solidFill>
            <a:srgbClr val="E2E8F0"/>
          </a:solidFill>
          <a:ln w="12700">
            <a:solidFill>
              <a:srgbClr val="D1D5DB"/>
            </a:solidFill>
            <a:prstDash val="solid"/>
          </a:ln>
        </p:spPr>
      </p:sp>
      <p:sp>
        <p:nvSpPr>
          <p:cNvPr id="15" name="Text 13"/>
          <p:cNvSpPr/>
          <p:nvPr/>
        </p:nvSpPr>
        <p:spPr>
          <a:xfrm>
            <a:off x="6263640" y="1508760"/>
            <a:ext cx="2377440" cy="3108960"/>
          </a:xfrm>
          <a:prstGeom prst="rect">
            <a:avLst/>
          </a:prstGeom>
          <a:noFill/>
          <a:ln/>
        </p:spPr>
        <p:txBody>
          <a:bodyPr wrap="square"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Suppression des données PII</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Pseudonymisation des identifiants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Conformité RGPD &amp; HIPAA</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Moteur d'anonymisation robuste</a:t>
            </a:r>
            <a:endParaRPr lang="en-US" sz="1200" dirty="0"/>
          </a:p>
        </p:txBody>
      </p:sp>
      <p:sp>
        <p:nvSpPr>
          <p:cNvPr id="16" name="Shape 14"/>
          <p:cNvSpPr/>
          <p:nvPr/>
        </p:nvSpPr>
        <p:spPr>
          <a:xfrm>
            <a:off x="0" y="4754880"/>
            <a:ext cx="9144000" cy="384048"/>
          </a:xfrm>
          <a:prstGeom prst="rect">
            <a:avLst/>
          </a:prstGeom>
          <a:solidFill>
            <a:srgbClr val="F0F9FF"/>
          </a:solidFill>
          <a:ln w="12700">
            <a:solidFill>
              <a:srgbClr val="E2E8F0"/>
            </a:solidFill>
            <a:prstDash val="solid"/>
          </a:ln>
        </p:spPr>
      </p:sp>
      <p:sp>
        <p:nvSpPr>
          <p:cNvPr id="17" name="Text 15"/>
          <p:cNvSpPr/>
          <p:nvPr/>
        </p:nvSpPr>
        <p:spPr>
          <a:xfrm>
            <a:off x="365760" y="4773168"/>
            <a:ext cx="8412480" cy="347472"/>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Toutes les données sont chiffrées au repos et en transit — conformité réglementaire garantie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MODULE D'INTELLIGENCE ARTIFICIELLE DIAGNOSTIQUE</a:t>
            </a:r>
            <a:endParaRPr lang="en-US" sz="1300" dirty="0"/>
          </a:p>
        </p:txBody>
      </p:sp>
      <p:pic>
        <p:nvPicPr>
          <p:cNvPr id="4" name="Image 0" descr="preencoded.png"/>
          <p:cNvPicPr>
            <a:picLocks noChangeAspect="1"/>
          </p:cNvPicPr>
          <p:nvPr/>
        </p:nvPicPr>
        <p:blipFill>
          <a:blip r:embed="rId1"/>
          <a:stretch>
            <a:fillRect/>
          </a:stretch>
        </p:blipFill>
        <p:spPr>
          <a:xfrm>
            <a:off x="320040" y="822960"/>
            <a:ext cx="1005840" cy="1005840"/>
          </a:xfrm>
          <a:prstGeom prst="rect">
            <a:avLst/>
          </a:prstGeom>
        </p:spPr>
      </p:pic>
      <p:sp>
        <p:nvSpPr>
          <p:cNvPr id="5" name="Text 2"/>
          <p:cNvSpPr/>
          <p:nvPr/>
        </p:nvSpPr>
        <p:spPr>
          <a:xfrm>
            <a:off x="1417320" y="822960"/>
            <a:ext cx="4572000" cy="91440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Bibliothèque de modèles IA pré-entraînés et validés cliniquement</a:t>
            </a:r>
            <a:endParaRPr lang="en-US" sz="1300" dirty="0"/>
          </a:p>
        </p:txBody>
      </p:sp>
      <p:sp>
        <p:nvSpPr>
          <p:cNvPr id="6" name="Shape 3"/>
          <p:cNvSpPr/>
          <p:nvPr/>
        </p:nvSpPr>
        <p:spPr>
          <a:xfrm>
            <a:off x="320040" y="1920240"/>
            <a:ext cx="201168" cy="777240"/>
          </a:xfrm>
          <a:prstGeom prst="rect">
            <a:avLst/>
          </a:prstGeom>
          <a:solidFill>
            <a:srgbClr val="0891B2"/>
          </a:solidFill>
          <a:ln w="12700">
            <a:solidFill>
              <a:srgbClr val="0891B2"/>
            </a:solidFill>
            <a:prstDash val="solid"/>
          </a:ln>
        </p:spPr>
      </p:sp>
      <p:sp>
        <p:nvSpPr>
          <p:cNvPr id="7" name="Shape 4"/>
          <p:cNvSpPr/>
          <p:nvPr/>
        </p:nvSpPr>
        <p:spPr>
          <a:xfrm>
            <a:off x="521208" y="1920240"/>
            <a:ext cx="8321040" cy="777240"/>
          </a:xfrm>
          <a:prstGeom prst="rect">
            <a:avLst/>
          </a:prstGeom>
          <a:solidFill>
            <a:srgbClr val="FFFFFF"/>
          </a:solidFill>
          <a:ln w="12700">
            <a:solidFill>
              <a:srgbClr val="D1D5DB"/>
            </a:solidFill>
            <a:prstDash val="solid"/>
          </a:ln>
        </p:spPr>
      </p:sp>
      <p:sp>
        <p:nvSpPr>
          <p:cNvPr id="8" name="Text 5"/>
          <p:cNvSpPr/>
          <p:nvPr/>
        </p:nvSpPr>
        <p:spPr>
          <a:xfrm>
            <a:off x="685800" y="1920240"/>
            <a:ext cx="2560320" cy="777240"/>
          </a:xfrm>
          <a:prstGeom prst="rect">
            <a:avLst/>
          </a:prstGeom>
          <a:noFill/>
          <a:ln/>
        </p:spPr>
        <p:txBody>
          <a:bodyPr wrap="square" lIns="0" tIns="0" rIns="0" bIns="0" rtlCol="0" anchor="ctr"/>
          <a:lstStyle/>
          <a:p>
            <a:pPr indent="0" marL="0">
              <a:buNone/>
            </a:pPr>
            <a:r>
              <a:rPr lang="en-US" sz="1300" b="1" dirty="0">
                <a:solidFill>
                  <a:srgbClr val="0891B2"/>
                </a:solidFill>
                <a:latin typeface="Calibri" pitchFamily="34" charset="0"/>
                <a:ea typeface="Calibri" pitchFamily="34" charset="-122"/>
                <a:cs typeface="Calibri" pitchFamily="34" charset="-120"/>
              </a:rPr>
              <a:t>Analyse d'Images</a:t>
            </a:r>
            <a:endParaRPr lang="en-US" sz="1300" dirty="0"/>
          </a:p>
        </p:txBody>
      </p:sp>
      <p:sp>
        <p:nvSpPr>
          <p:cNvPr id="9" name="Text 6"/>
          <p:cNvSpPr/>
          <p:nvPr/>
        </p:nvSpPr>
        <p:spPr>
          <a:xfrm>
            <a:off x="3291840" y="1920240"/>
            <a:ext cx="5394960" cy="7772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Radios, IRM, scanners</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Détection fractures, tumeurs, anomalies</a:t>
            </a:r>
            <a:endParaRPr lang="en-US" sz="1100" dirty="0"/>
          </a:p>
        </p:txBody>
      </p:sp>
      <p:sp>
        <p:nvSpPr>
          <p:cNvPr id="10" name="Shape 7"/>
          <p:cNvSpPr/>
          <p:nvPr/>
        </p:nvSpPr>
        <p:spPr>
          <a:xfrm>
            <a:off x="320040" y="2926080"/>
            <a:ext cx="201168" cy="777240"/>
          </a:xfrm>
          <a:prstGeom prst="rect">
            <a:avLst/>
          </a:prstGeom>
          <a:solidFill>
            <a:srgbClr val="0369A1"/>
          </a:solidFill>
          <a:ln w="12700">
            <a:solidFill>
              <a:srgbClr val="0369A1"/>
            </a:solidFill>
            <a:prstDash val="solid"/>
          </a:ln>
        </p:spPr>
      </p:sp>
      <p:sp>
        <p:nvSpPr>
          <p:cNvPr id="11" name="Shape 8"/>
          <p:cNvSpPr/>
          <p:nvPr/>
        </p:nvSpPr>
        <p:spPr>
          <a:xfrm>
            <a:off x="521208" y="2926080"/>
            <a:ext cx="8321040" cy="777240"/>
          </a:xfrm>
          <a:prstGeom prst="rect">
            <a:avLst/>
          </a:prstGeom>
          <a:solidFill>
            <a:srgbClr val="FFFFFF"/>
          </a:solidFill>
          <a:ln w="12700">
            <a:solidFill>
              <a:srgbClr val="D1D5DB"/>
            </a:solidFill>
            <a:prstDash val="solid"/>
          </a:ln>
        </p:spPr>
      </p:sp>
      <p:sp>
        <p:nvSpPr>
          <p:cNvPr id="12" name="Text 9"/>
          <p:cNvSpPr/>
          <p:nvPr/>
        </p:nvSpPr>
        <p:spPr>
          <a:xfrm>
            <a:off x="685800" y="2926080"/>
            <a:ext cx="2560320" cy="777240"/>
          </a:xfrm>
          <a:prstGeom prst="rect">
            <a:avLst/>
          </a:prstGeom>
          <a:noFill/>
          <a:ln/>
        </p:spPr>
        <p:txBody>
          <a:bodyPr wrap="square" lIns="0" tIns="0" rIns="0" bIns="0"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Modèles Prédictifs</a:t>
            </a:r>
            <a:endParaRPr lang="en-US" sz="1300" dirty="0"/>
          </a:p>
        </p:txBody>
      </p:sp>
      <p:sp>
        <p:nvSpPr>
          <p:cNvPr id="13" name="Text 10"/>
          <p:cNvSpPr/>
          <p:nvPr/>
        </p:nvSpPr>
        <p:spPr>
          <a:xfrm>
            <a:off x="3291840" y="2926080"/>
            <a:ext cx="5394960" cy="7772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Données cliniques structurées</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Ex : risque cardiovasculaire</a:t>
            </a:r>
            <a:endParaRPr lang="en-US" sz="1100" dirty="0"/>
          </a:p>
        </p:txBody>
      </p:sp>
      <p:sp>
        <p:nvSpPr>
          <p:cNvPr id="14" name="Shape 11"/>
          <p:cNvSpPr/>
          <p:nvPr/>
        </p:nvSpPr>
        <p:spPr>
          <a:xfrm>
            <a:off x="320040" y="3931920"/>
            <a:ext cx="201168" cy="777240"/>
          </a:xfrm>
          <a:prstGeom prst="rect">
            <a:avLst/>
          </a:prstGeom>
          <a:solidFill>
            <a:srgbClr val="7C3AED"/>
          </a:solidFill>
          <a:ln w="12700">
            <a:solidFill>
              <a:srgbClr val="7C3AED"/>
            </a:solidFill>
            <a:prstDash val="solid"/>
          </a:ln>
        </p:spPr>
      </p:sp>
      <p:sp>
        <p:nvSpPr>
          <p:cNvPr id="15" name="Shape 12"/>
          <p:cNvSpPr/>
          <p:nvPr/>
        </p:nvSpPr>
        <p:spPr>
          <a:xfrm>
            <a:off x="521208" y="3931920"/>
            <a:ext cx="8321040" cy="777240"/>
          </a:xfrm>
          <a:prstGeom prst="rect">
            <a:avLst/>
          </a:prstGeom>
          <a:solidFill>
            <a:srgbClr val="FFFFFF"/>
          </a:solidFill>
          <a:ln w="12700">
            <a:solidFill>
              <a:srgbClr val="D1D5DB"/>
            </a:solidFill>
            <a:prstDash val="solid"/>
          </a:ln>
        </p:spPr>
      </p:sp>
      <p:sp>
        <p:nvSpPr>
          <p:cNvPr id="16" name="Text 13"/>
          <p:cNvSpPr/>
          <p:nvPr/>
        </p:nvSpPr>
        <p:spPr>
          <a:xfrm>
            <a:off x="685800" y="3931920"/>
            <a:ext cx="2560320" cy="777240"/>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Classification Bio.</a:t>
            </a:r>
            <a:endParaRPr lang="en-US" sz="1300" dirty="0"/>
          </a:p>
        </p:txBody>
      </p:sp>
      <p:sp>
        <p:nvSpPr>
          <p:cNvPr id="17" name="Text 14"/>
          <p:cNvSpPr/>
          <p:nvPr/>
        </p:nvSpPr>
        <p:spPr>
          <a:xfrm>
            <a:off x="3291840" y="3931920"/>
            <a:ext cx="5394960" cy="7772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Données biologiques et génomiques</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Identification de pathologies</a:t>
            </a:r>
            <a:endParaRPr lang="en-US" sz="1100" dirty="0"/>
          </a:p>
        </p:txBody>
      </p:sp>
      <p:sp>
        <p:nvSpPr>
          <p:cNvPr id="18" name="Shape 15"/>
          <p:cNvSpPr/>
          <p:nvPr/>
        </p:nvSpPr>
        <p:spPr>
          <a:xfrm>
            <a:off x="320040" y="4892040"/>
            <a:ext cx="8503920" cy="914"/>
          </a:xfrm>
          <a:prstGeom prst="rect">
            <a:avLst/>
          </a:prstGeom>
          <a:solidFill>
            <a:srgbClr val="E2E8F0"/>
          </a:solidFill>
          <a:ln w="12700">
            <a:solidFill>
              <a:srgbClr val="E2E8F0"/>
            </a:solidFill>
            <a:prstDash val="solid"/>
          </a:ln>
        </p:spPr>
      </p:sp>
      <p:sp>
        <p:nvSpPr>
          <p:cNvPr id="19" name="Text 16"/>
          <p:cNvSpPr/>
          <p:nvPr/>
        </p:nvSpPr>
        <p:spPr>
          <a:xfrm>
            <a:off x="320040" y="4681728"/>
            <a:ext cx="8503920" cy="347472"/>
          </a:xfrm>
          <a:prstGeom prst="rect">
            <a:avLst/>
          </a:prstGeom>
          <a:noFill/>
          <a:ln/>
        </p:spPr>
        <p:txBody>
          <a:bodyPr wrap="square" lIns="0" tIns="0" rIns="0" bIns="0" rtlCol="0" anchor="ctr"/>
          <a:lstStyle/>
          <a:p>
            <a:pPr algn="ctr" indent="0" marL="0">
              <a:buNone/>
            </a:pPr>
            <a:r>
              <a:rPr lang="en-US" sz="1100" i="1" dirty="0">
                <a:solidFill>
                  <a:srgbClr val="475569"/>
                </a:solidFill>
                <a:latin typeface="Calibri" pitchFamily="34" charset="0"/>
                <a:ea typeface="Calibri" pitchFamily="34" charset="-122"/>
                <a:cs typeface="Calibri" pitchFamily="34" charset="-120"/>
              </a:rPr>
              <a:t>Workflow : Médecin → Sélection modèle → Soumission données → Analyse quasi-réelle → Rapport pré-validé</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ASSISTANT LLM — DIAGNOSTIC &amp; SUIVI</a:t>
            </a:r>
            <a:endParaRPr lang="en-US" sz="1400" dirty="0"/>
          </a:p>
        </p:txBody>
      </p:sp>
      <p:pic>
        <p:nvPicPr>
          <p:cNvPr id="4" name="Image 0" descr="preencoded.png"/>
          <p:cNvPicPr>
            <a:picLocks noChangeAspect="1"/>
          </p:cNvPicPr>
          <p:nvPr/>
        </p:nvPicPr>
        <p:blipFill>
          <a:blip r:embed="rId1"/>
          <a:stretch>
            <a:fillRect/>
          </a:stretch>
        </p:blipFill>
        <p:spPr>
          <a:xfrm>
            <a:off x="320040" y="749808"/>
            <a:ext cx="777240" cy="777240"/>
          </a:xfrm>
          <a:prstGeom prst="rect">
            <a:avLst/>
          </a:prstGeom>
        </p:spPr>
      </p:pic>
      <p:sp>
        <p:nvSpPr>
          <p:cNvPr id="5" name="Text 2"/>
          <p:cNvSpPr/>
          <p:nvPr/>
        </p:nvSpPr>
        <p:spPr>
          <a:xfrm>
            <a:off x="1188720" y="749808"/>
            <a:ext cx="7589520" cy="777240"/>
          </a:xfrm>
          <a:prstGeom prst="rect">
            <a:avLst/>
          </a:prstGeom>
          <a:noFill/>
          <a:ln/>
        </p:spPr>
        <p:txBody>
          <a:bodyPr wrap="square"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Cœur de l'interaction patient-plateforme — interface conversationnelle intelligente</a:t>
            </a:r>
            <a:endParaRPr lang="en-US" sz="1300" dirty="0"/>
          </a:p>
        </p:txBody>
      </p:sp>
      <p:sp>
        <p:nvSpPr>
          <p:cNvPr id="6" name="Shape 3"/>
          <p:cNvSpPr/>
          <p:nvPr/>
        </p:nvSpPr>
        <p:spPr>
          <a:xfrm>
            <a:off x="320040" y="1664208"/>
            <a:ext cx="8503920" cy="914400"/>
          </a:xfrm>
          <a:prstGeom prst="rect">
            <a:avLst/>
          </a:prstGeom>
          <a:solidFill>
            <a:srgbClr val="F0F9FF"/>
          </a:solidFill>
          <a:ln w="12700">
            <a:solidFill>
              <a:srgbClr val="D1D5DB"/>
            </a:solidFill>
            <a:prstDash val="solid"/>
          </a:ln>
          <a:effectLst>
            <a:outerShdw sx="100000" sy="100000" kx="0" ky="0" algn="bl" rotWithShape="0" blurRad="50800" dist="25400" dir="8100000">
              <a:srgbClr val="000000">
                <a:alpha val="8000"/>
              </a:srgbClr>
            </a:outerShdw>
          </a:effectLst>
        </p:spPr>
      </p:sp>
      <p:sp>
        <p:nvSpPr>
          <p:cNvPr id="7" name="Shape 4"/>
          <p:cNvSpPr/>
          <p:nvPr/>
        </p:nvSpPr>
        <p:spPr>
          <a:xfrm>
            <a:off x="320040" y="1664208"/>
            <a:ext cx="164592" cy="914400"/>
          </a:xfrm>
          <a:prstGeom prst="rect">
            <a:avLst/>
          </a:prstGeom>
          <a:solidFill>
            <a:srgbClr val="0891B2"/>
          </a:solidFill>
          <a:ln w="12700">
            <a:solidFill>
              <a:srgbClr val="0891B2"/>
            </a:solidFill>
            <a:prstDash val="solid"/>
          </a:ln>
        </p:spPr>
      </p:sp>
      <p:sp>
        <p:nvSpPr>
          <p:cNvPr id="8" name="Text 5"/>
          <p:cNvSpPr/>
          <p:nvPr/>
        </p:nvSpPr>
        <p:spPr>
          <a:xfrm>
            <a:off x="594360" y="1709928"/>
            <a:ext cx="2560320" cy="411480"/>
          </a:xfrm>
          <a:prstGeom prst="rect">
            <a:avLst/>
          </a:prstGeom>
          <a:noFill/>
          <a:ln/>
        </p:spPr>
        <p:txBody>
          <a:bodyPr wrap="square" lIns="0" tIns="0" rIns="0" bIns="0"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Génération de Rapports</a:t>
            </a:r>
            <a:endParaRPr lang="en-US" sz="1200" dirty="0"/>
          </a:p>
        </p:txBody>
      </p:sp>
      <p:sp>
        <p:nvSpPr>
          <p:cNvPr id="9" name="Text 6"/>
          <p:cNvSpPr/>
          <p:nvPr/>
        </p:nvSpPr>
        <p:spPr>
          <a:xfrm>
            <a:off x="594360" y="2103120"/>
            <a:ext cx="8092440" cy="438912"/>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Après analyse IA, rédaction d'un pré-rapport en langage clair. Validation obligatoire par le médecin traitant avant tout traitement.</a:t>
            </a:r>
            <a:endParaRPr lang="en-US" sz="1050" dirty="0"/>
          </a:p>
        </p:txBody>
      </p:sp>
      <p:sp>
        <p:nvSpPr>
          <p:cNvPr id="10" name="Shape 7"/>
          <p:cNvSpPr/>
          <p:nvPr/>
        </p:nvSpPr>
        <p:spPr>
          <a:xfrm>
            <a:off x="320040" y="2761488"/>
            <a:ext cx="8503920" cy="914400"/>
          </a:xfrm>
          <a:prstGeom prst="rect">
            <a:avLst/>
          </a:prstGeom>
          <a:solidFill>
            <a:srgbClr val="F0F9FF"/>
          </a:solidFill>
          <a:ln w="12700">
            <a:solidFill>
              <a:srgbClr val="D1D5DB"/>
            </a:solidFill>
            <a:prstDash val="solid"/>
          </a:ln>
          <a:effectLst>
            <a:outerShdw sx="100000" sy="100000" kx="0" ky="0" algn="bl" rotWithShape="0" blurRad="50800" dist="25400" dir="8100000">
              <a:srgbClr val="000000">
                <a:alpha val="8000"/>
              </a:srgbClr>
            </a:outerShdw>
          </a:effectLst>
        </p:spPr>
      </p:sp>
      <p:sp>
        <p:nvSpPr>
          <p:cNvPr id="11" name="Shape 8"/>
          <p:cNvSpPr/>
          <p:nvPr/>
        </p:nvSpPr>
        <p:spPr>
          <a:xfrm>
            <a:off x="320040" y="2761488"/>
            <a:ext cx="164592" cy="914400"/>
          </a:xfrm>
          <a:prstGeom prst="rect">
            <a:avLst/>
          </a:prstGeom>
          <a:solidFill>
            <a:srgbClr val="0369A1"/>
          </a:solidFill>
          <a:ln w="12700">
            <a:solidFill>
              <a:srgbClr val="0369A1"/>
            </a:solidFill>
            <a:prstDash val="solid"/>
          </a:ln>
        </p:spPr>
      </p:sp>
      <p:sp>
        <p:nvSpPr>
          <p:cNvPr id="12" name="Text 9"/>
          <p:cNvSpPr/>
          <p:nvPr/>
        </p:nvSpPr>
        <p:spPr>
          <a:xfrm>
            <a:off x="594360" y="2807208"/>
            <a:ext cx="2560320" cy="411480"/>
          </a:xfrm>
          <a:prstGeom prst="rect">
            <a:avLst/>
          </a:prstGeom>
          <a:noFill/>
          <a:ln/>
        </p:spPr>
        <p:txBody>
          <a:bodyPr wrap="square" lIns="0" tIns="0" rIns="0" bIns="0" rtlCol="0" anchor="ctr"/>
          <a:lstStyle/>
          <a:p>
            <a:pPr indent="0" marL="0">
              <a:buNone/>
            </a:pPr>
            <a:r>
              <a:rPr lang="en-US" sz="1200" b="1" dirty="0">
                <a:solidFill>
                  <a:srgbClr val="0369A1"/>
                </a:solidFill>
                <a:latin typeface="Calibri" pitchFamily="34" charset="0"/>
                <a:ea typeface="Calibri" pitchFamily="34" charset="-122"/>
                <a:cs typeface="Calibri" pitchFamily="34" charset="-120"/>
              </a:rPr>
              <a:t>Interaction Intelligente</a:t>
            </a:r>
            <a:endParaRPr lang="en-US" sz="1200" dirty="0"/>
          </a:p>
        </p:txBody>
      </p:sp>
      <p:sp>
        <p:nvSpPr>
          <p:cNvPr id="13" name="Text 10"/>
          <p:cNvSpPr/>
          <p:nvPr/>
        </p:nvSpPr>
        <p:spPr>
          <a:xfrm>
            <a:off x="594360" y="3200400"/>
            <a:ext cx="8092440" cy="438912"/>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Collecte d'informations complémentaires via chatbot sécurisé. Suggestions d'examens additionnels transmissibles au médecin.</a:t>
            </a:r>
            <a:endParaRPr lang="en-US" sz="1050" dirty="0"/>
          </a:p>
        </p:txBody>
      </p:sp>
      <p:sp>
        <p:nvSpPr>
          <p:cNvPr id="14" name="Shape 11"/>
          <p:cNvSpPr/>
          <p:nvPr/>
        </p:nvSpPr>
        <p:spPr>
          <a:xfrm>
            <a:off x="320040" y="3858768"/>
            <a:ext cx="8503920" cy="914400"/>
          </a:xfrm>
          <a:prstGeom prst="rect">
            <a:avLst/>
          </a:prstGeom>
          <a:solidFill>
            <a:srgbClr val="F0F9FF"/>
          </a:solidFill>
          <a:ln w="12700">
            <a:solidFill>
              <a:srgbClr val="D1D5DB"/>
            </a:solidFill>
            <a:prstDash val="solid"/>
          </a:ln>
          <a:effectLst>
            <a:outerShdw sx="100000" sy="100000" kx="0" ky="0" algn="bl" rotWithShape="0" blurRad="50800" dist="25400" dir="8100000">
              <a:srgbClr val="000000">
                <a:alpha val="8000"/>
              </a:srgbClr>
            </a:outerShdw>
          </a:effectLst>
        </p:spPr>
      </p:sp>
      <p:sp>
        <p:nvSpPr>
          <p:cNvPr id="15" name="Shape 12"/>
          <p:cNvSpPr/>
          <p:nvPr/>
        </p:nvSpPr>
        <p:spPr>
          <a:xfrm>
            <a:off x="320040" y="3858768"/>
            <a:ext cx="164592" cy="914400"/>
          </a:xfrm>
          <a:prstGeom prst="rect">
            <a:avLst/>
          </a:prstGeom>
          <a:solidFill>
            <a:srgbClr val="7C3AED"/>
          </a:solidFill>
          <a:ln w="12700">
            <a:solidFill>
              <a:srgbClr val="7C3AED"/>
            </a:solidFill>
            <a:prstDash val="solid"/>
          </a:ln>
        </p:spPr>
      </p:sp>
      <p:sp>
        <p:nvSpPr>
          <p:cNvPr id="16" name="Text 13"/>
          <p:cNvSpPr/>
          <p:nvPr/>
        </p:nvSpPr>
        <p:spPr>
          <a:xfrm>
            <a:off x="594360" y="3904488"/>
            <a:ext cx="2560320" cy="411480"/>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Recommandations Thérapeutiques</a:t>
            </a:r>
            <a:endParaRPr lang="en-US" sz="1200" dirty="0"/>
          </a:p>
        </p:txBody>
      </p:sp>
      <p:sp>
        <p:nvSpPr>
          <p:cNvPr id="17" name="Text 14"/>
          <p:cNvSpPr/>
          <p:nvPr/>
        </p:nvSpPr>
        <p:spPr>
          <a:xfrm>
            <a:off x="594360" y="4297680"/>
            <a:ext cx="8092440" cy="438912"/>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Propositions de traitements standard basées sur le diagnostic validé. Vérification des contre-indications et allergies. Toujours sous supervision médicale.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891B2"/>
          </a:solidFill>
          <a:ln w="12700">
            <a:solidFill>
              <a:srgbClr val="0891B2"/>
            </a:solidFill>
            <a:prstDash val="solid"/>
          </a:ln>
        </p:spPr>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SÉCURITÉ &amp; CONFORMITÉ RÉGLEMENTAIRE</a:t>
            </a:r>
            <a:endParaRPr lang="en-US" sz="1400" dirty="0"/>
          </a:p>
        </p:txBody>
      </p:sp>
      <p:sp>
        <p:nvSpPr>
          <p:cNvPr id="4" name="Shape 2"/>
          <p:cNvSpPr/>
          <p:nvPr/>
        </p:nvSpPr>
        <p:spPr>
          <a:xfrm>
            <a:off x="457200" y="777240"/>
            <a:ext cx="2606040" cy="4114800"/>
          </a:xfrm>
          <a:prstGeom prst="rect">
            <a:avLst/>
          </a:prstGeom>
          <a:solidFill>
            <a:srgbClr val="FFFFFF">
              <a:alpha val="95000"/>
            </a:srgbClr>
          </a:solidFill>
          <a:ln w="12700">
            <a:solidFill>
              <a:srgbClr val="FFFFFF">
                <a:alpha val="20000"/>
              </a:srgbClr>
            </a:solidFill>
            <a:prstDash val="solid"/>
          </a:ln>
        </p:spPr>
      </p:sp>
      <p:pic>
        <p:nvPicPr>
          <p:cNvPr id="5" name="Image 0" descr="preencoded.png"/>
          <p:cNvPicPr>
            <a:picLocks noChangeAspect="1"/>
          </p:cNvPicPr>
          <p:nvPr/>
        </p:nvPicPr>
        <p:blipFill>
          <a:blip r:embed="rId1"/>
          <a:stretch>
            <a:fillRect/>
          </a:stretch>
        </p:blipFill>
        <p:spPr>
          <a:xfrm>
            <a:off x="1463040" y="960120"/>
            <a:ext cx="594360" cy="594360"/>
          </a:xfrm>
          <a:prstGeom prst="rect">
            <a:avLst/>
          </a:prstGeom>
        </p:spPr>
      </p:pic>
      <p:sp>
        <p:nvSpPr>
          <p:cNvPr id="6" name="Text 3"/>
          <p:cNvSpPr/>
          <p:nvPr/>
        </p:nvSpPr>
        <p:spPr>
          <a:xfrm>
            <a:off x="594360" y="1645920"/>
            <a:ext cx="2331720" cy="685800"/>
          </a:xfrm>
          <a:prstGeom prst="rect">
            <a:avLst/>
          </a:prstGeom>
          <a:noFill/>
          <a:ln/>
        </p:spPr>
        <p:txBody>
          <a:bodyPr wrap="square" lIns="0" tIns="0" rIns="0" bIns="0" rtlCol="0" anchor="ctr"/>
          <a:lstStyle/>
          <a:p>
            <a:pPr algn="ctr" indent="0" marL="0">
              <a:buNone/>
            </a:pPr>
            <a:r>
              <a:rPr lang="en-US" sz="1300" b="1" dirty="0">
                <a:solidFill>
                  <a:srgbClr val="0891B2"/>
                </a:solidFill>
                <a:latin typeface="Calibri" pitchFamily="34" charset="0"/>
                <a:ea typeface="Calibri" pitchFamily="34" charset="-122"/>
                <a:cs typeface="Calibri" pitchFamily="34" charset="-120"/>
              </a:rPr>
              <a:t>Chiffrement de bout en bout</a:t>
            </a:r>
            <a:endParaRPr lang="en-US" sz="1300" dirty="0"/>
          </a:p>
        </p:txBody>
      </p:sp>
      <p:sp>
        <p:nvSpPr>
          <p:cNvPr id="7" name="Text 4"/>
          <p:cNvSpPr/>
          <p:nvPr/>
        </p:nvSpPr>
        <p:spPr>
          <a:xfrm>
            <a:off x="640080" y="2423160"/>
            <a:ext cx="2240280" cy="2286000"/>
          </a:xfrm>
          <a:prstGeom prst="rect">
            <a:avLst/>
          </a:prstGeom>
          <a:noFill/>
          <a:ln/>
        </p:spPr>
        <p:txBody>
          <a:bodyPr wrap="square" lIns="0" tIns="0" rIns="0" bIns="0" rtlCol="0" anchor="ctr"/>
          <a:lstStyle/>
          <a:p>
            <a:pPr algn="ctr" indent="0" marL="0">
              <a:buNone/>
            </a:pPr>
            <a:r>
              <a:rPr lang="en-US" sz="1150" dirty="0">
                <a:solidFill>
                  <a:srgbClr val="B8D4E8"/>
                </a:solidFill>
                <a:latin typeface="Calibri" pitchFamily="34" charset="0"/>
                <a:ea typeface="Calibri" pitchFamily="34" charset="-122"/>
                <a:cs typeface="Calibri" pitchFamily="34" charset="-120"/>
              </a:rPr>
              <a:t>Données chiffrées au repos et en transit. Aucune donnée non protégée sur les serveurs ou réseaux.</a:t>
            </a:r>
            <a:endParaRPr lang="en-US" sz="1150" dirty="0"/>
          </a:p>
        </p:txBody>
      </p:sp>
      <p:sp>
        <p:nvSpPr>
          <p:cNvPr id="8" name="Shape 5"/>
          <p:cNvSpPr/>
          <p:nvPr/>
        </p:nvSpPr>
        <p:spPr>
          <a:xfrm>
            <a:off x="3337560" y="777240"/>
            <a:ext cx="2606040" cy="4114800"/>
          </a:xfrm>
          <a:prstGeom prst="rect">
            <a:avLst/>
          </a:prstGeom>
          <a:solidFill>
            <a:srgbClr val="FFFFFF">
              <a:alpha val="95000"/>
            </a:srgbClr>
          </a:solidFill>
          <a:ln w="12700">
            <a:solidFill>
              <a:srgbClr val="FFFFFF">
                <a:alpha val="20000"/>
              </a:srgbClr>
            </a:solidFill>
            <a:prstDash val="solid"/>
          </a:ln>
        </p:spPr>
      </p:sp>
      <p:pic>
        <p:nvPicPr>
          <p:cNvPr id="9" name="Image 1" descr="preencoded.png"/>
          <p:cNvPicPr>
            <a:picLocks noChangeAspect="1"/>
          </p:cNvPicPr>
          <p:nvPr/>
        </p:nvPicPr>
        <p:blipFill>
          <a:blip r:embed="rId2"/>
          <a:stretch>
            <a:fillRect/>
          </a:stretch>
        </p:blipFill>
        <p:spPr>
          <a:xfrm>
            <a:off x="4343400" y="960120"/>
            <a:ext cx="594360" cy="594360"/>
          </a:xfrm>
          <a:prstGeom prst="rect">
            <a:avLst/>
          </a:prstGeom>
        </p:spPr>
      </p:pic>
      <p:sp>
        <p:nvSpPr>
          <p:cNvPr id="10" name="Text 6"/>
          <p:cNvSpPr/>
          <p:nvPr/>
        </p:nvSpPr>
        <p:spPr>
          <a:xfrm>
            <a:off x="3474720" y="1645920"/>
            <a:ext cx="2331720" cy="685800"/>
          </a:xfrm>
          <a:prstGeom prst="rect">
            <a:avLst/>
          </a:prstGeom>
          <a:noFill/>
          <a:ln/>
        </p:spPr>
        <p:txBody>
          <a:bodyPr wrap="square" lIns="0" tIns="0" rIns="0" bIns="0"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Conformité Réglementaire</a:t>
            </a:r>
            <a:endParaRPr lang="en-US" sz="1300" dirty="0"/>
          </a:p>
        </p:txBody>
      </p:sp>
      <p:sp>
        <p:nvSpPr>
          <p:cNvPr id="11" name="Text 7"/>
          <p:cNvSpPr/>
          <p:nvPr/>
        </p:nvSpPr>
        <p:spPr>
          <a:xfrm>
            <a:off x="3520440" y="2423160"/>
            <a:ext cx="2240280" cy="2286000"/>
          </a:xfrm>
          <a:prstGeom prst="rect">
            <a:avLst/>
          </a:prstGeom>
          <a:noFill/>
          <a:ln/>
        </p:spPr>
        <p:txBody>
          <a:bodyPr wrap="square" lIns="0" tIns="0" rIns="0" bIns="0" rtlCol="0" anchor="ctr"/>
          <a:lstStyle/>
          <a:p>
            <a:pPr algn="ctr" indent="0" marL="0">
              <a:buNone/>
            </a:pPr>
            <a:r>
              <a:rPr lang="en-US" sz="1150" dirty="0">
                <a:solidFill>
                  <a:srgbClr val="B8D4E8"/>
                </a:solidFill>
                <a:latin typeface="Calibri" pitchFamily="34" charset="0"/>
                <a:ea typeface="Calibri" pitchFamily="34" charset="-122"/>
                <a:cs typeface="Calibri" pitchFamily="34" charset="-120"/>
              </a:rPr>
              <a:t>Conception alignée RGPD (Europe) et HIPAA (États-Unis). Adaptable aux réglementations locales.</a:t>
            </a:r>
            <a:endParaRPr lang="en-US" sz="1150" dirty="0"/>
          </a:p>
        </p:txBody>
      </p:sp>
      <p:sp>
        <p:nvSpPr>
          <p:cNvPr id="12" name="Shape 8"/>
          <p:cNvSpPr/>
          <p:nvPr/>
        </p:nvSpPr>
        <p:spPr>
          <a:xfrm>
            <a:off x="6217920" y="777240"/>
            <a:ext cx="2606040" cy="4114800"/>
          </a:xfrm>
          <a:prstGeom prst="rect">
            <a:avLst/>
          </a:prstGeom>
          <a:solidFill>
            <a:srgbClr val="FFFFFF">
              <a:alpha val="95000"/>
            </a:srgbClr>
          </a:solidFill>
          <a:ln w="12700">
            <a:solidFill>
              <a:srgbClr val="FFFFFF">
                <a:alpha val="20000"/>
              </a:srgbClr>
            </a:solidFill>
            <a:prstDash val="solid"/>
          </a:ln>
        </p:spPr>
      </p:sp>
      <p:pic>
        <p:nvPicPr>
          <p:cNvPr id="13" name="Image 2" descr="preencoded.png"/>
          <p:cNvPicPr>
            <a:picLocks noChangeAspect="1"/>
          </p:cNvPicPr>
          <p:nvPr/>
        </p:nvPicPr>
        <p:blipFill>
          <a:blip r:embed="rId3"/>
          <a:stretch>
            <a:fillRect/>
          </a:stretch>
        </p:blipFill>
        <p:spPr>
          <a:xfrm>
            <a:off x="7223760" y="960120"/>
            <a:ext cx="594360" cy="594360"/>
          </a:xfrm>
          <a:prstGeom prst="rect">
            <a:avLst/>
          </a:prstGeom>
        </p:spPr>
      </p:pic>
      <p:sp>
        <p:nvSpPr>
          <p:cNvPr id="14" name="Text 9"/>
          <p:cNvSpPr/>
          <p:nvPr/>
        </p:nvSpPr>
        <p:spPr>
          <a:xfrm>
            <a:off x="6355080" y="1645920"/>
            <a:ext cx="2331720" cy="685800"/>
          </a:xfrm>
          <a:prstGeom prst="rect">
            <a:avLst/>
          </a:prstGeom>
          <a:noFill/>
          <a:ln/>
        </p:spPr>
        <p:txBody>
          <a:bodyPr wrap="square" lIns="0" tIns="0" rIns="0" bIns="0" rtlCol="0" anchor="ctr"/>
          <a:lstStyle/>
          <a:p>
            <a:pPr algn="ctr" indent="0" marL="0">
              <a:buNone/>
            </a:pPr>
            <a:r>
              <a:rPr lang="en-US" sz="1300" b="1" dirty="0">
                <a:solidFill>
                  <a:srgbClr val="A78BFA"/>
                </a:solidFill>
                <a:latin typeface="Calibri" pitchFamily="34" charset="0"/>
                <a:ea typeface="Calibri" pitchFamily="34" charset="-122"/>
                <a:cs typeface="Calibri" pitchFamily="34" charset="-120"/>
              </a:rPr>
              <a:t>Audit &amp; Traçabilité</a:t>
            </a:r>
            <a:endParaRPr lang="en-US" sz="1300" dirty="0"/>
          </a:p>
        </p:txBody>
      </p:sp>
      <p:sp>
        <p:nvSpPr>
          <p:cNvPr id="15" name="Text 10"/>
          <p:cNvSpPr/>
          <p:nvPr/>
        </p:nvSpPr>
        <p:spPr>
          <a:xfrm>
            <a:off x="6400800" y="2423160"/>
            <a:ext cx="2240280" cy="2286000"/>
          </a:xfrm>
          <a:prstGeom prst="rect">
            <a:avLst/>
          </a:prstGeom>
          <a:noFill/>
          <a:ln/>
        </p:spPr>
        <p:txBody>
          <a:bodyPr wrap="square" lIns="0" tIns="0" rIns="0" bIns="0" rtlCol="0" anchor="ctr"/>
          <a:lstStyle/>
          <a:p>
            <a:pPr algn="ctr" indent="0" marL="0">
              <a:buNone/>
            </a:pPr>
            <a:r>
              <a:rPr lang="en-US" sz="1150" dirty="0">
                <a:solidFill>
                  <a:srgbClr val="B8D4E8"/>
                </a:solidFill>
                <a:latin typeface="Calibri" pitchFamily="34" charset="0"/>
                <a:ea typeface="Calibri" pitchFamily="34" charset="-122"/>
                <a:cs typeface="Calibri" pitchFamily="34" charset="-120"/>
              </a:rPr>
              <a:t>Journalisation complète de chaque accès, modification ou partage de donnée. Traçabilité garantie.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PERFORMANCE &amp; FIABILITÉ</a:t>
            </a:r>
            <a:endParaRPr lang="en-US" sz="1400" dirty="0"/>
          </a:p>
        </p:txBody>
      </p:sp>
      <p:sp>
        <p:nvSpPr>
          <p:cNvPr id="4" name="Shape 2"/>
          <p:cNvSpPr/>
          <p:nvPr/>
        </p:nvSpPr>
        <p:spPr>
          <a:xfrm>
            <a:off x="365760" y="777240"/>
            <a:ext cx="1920240" cy="3108960"/>
          </a:xfrm>
          <a:prstGeom prst="rect">
            <a:avLst/>
          </a:prstGeom>
          <a:solidFill>
            <a:srgbClr val="F0F9FF"/>
          </a:solidFill>
          <a:ln w="12700">
            <a:solidFill>
              <a:srgbClr val="E2E8F0"/>
            </a:solidFill>
            <a:prstDash val="solid"/>
          </a:ln>
        </p:spPr>
      </p:sp>
      <p:sp>
        <p:nvSpPr>
          <p:cNvPr id="5" name="Shape 3"/>
          <p:cNvSpPr/>
          <p:nvPr/>
        </p:nvSpPr>
        <p:spPr>
          <a:xfrm>
            <a:off x="365760" y="777240"/>
            <a:ext cx="1920240" cy="73152"/>
          </a:xfrm>
          <a:prstGeom prst="rect">
            <a:avLst/>
          </a:prstGeom>
          <a:solidFill>
            <a:srgbClr val="0891B2"/>
          </a:solidFill>
          <a:ln w="12700">
            <a:solidFill>
              <a:srgbClr val="0891B2"/>
            </a:solidFill>
            <a:prstDash val="solid"/>
          </a:ln>
        </p:spPr>
      </p:sp>
      <p:sp>
        <p:nvSpPr>
          <p:cNvPr id="6" name="Text 4"/>
          <p:cNvSpPr/>
          <p:nvPr/>
        </p:nvSpPr>
        <p:spPr>
          <a:xfrm>
            <a:off x="365760" y="1188720"/>
            <a:ext cx="1920240" cy="1280160"/>
          </a:xfrm>
          <a:prstGeom prst="rect">
            <a:avLst/>
          </a:prstGeom>
          <a:noFill/>
          <a:ln/>
        </p:spPr>
        <p:txBody>
          <a:bodyPr wrap="square" lIns="0" tIns="0" rIns="0" bIns="0" rtlCol="0" anchor="ctr"/>
          <a:lstStyle/>
          <a:p>
            <a:pPr algn="ctr" indent="0" marL="0">
              <a:buNone/>
            </a:pPr>
            <a:r>
              <a:rPr lang="en-US" sz="3600" b="1" dirty="0">
                <a:solidFill>
                  <a:srgbClr val="0891B2"/>
                </a:solidFill>
                <a:latin typeface="Calibri" pitchFamily="34" charset="0"/>
                <a:ea typeface="Calibri" pitchFamily="34" charset="-122"/>
                <a:cs typeface="Calibri" pitchFamily="34" charset="-120"/>
              </a:rPr>
              <a:t>99.9%</a:t>
            </a:r>
            <a:endParaRPr lang="en-US" sz="3600" dirty="0"/>
          </a:p>
        </p:txBody>
      </p:sp>
      <p:sp>
        <p:nvSpPr>
          <p:cNvPr id="7" name="Text 5"/>
          <p:cNvSpPr/>
          <p:nvPr/>
        </p:nvSpPr>
        <p:spPr>
          <a:xfrm>
            <a:off x="365760" y="2560320"/>
            <a:ext cx="1920240" cy="1188720"/>
          </a:xfrm>
          <a:prstGeom prst="rect">
            <a:avLst/>
          </a:prstGeom>
          <a:noFill/>
          <a:ln/>
        </p:spPr>
        <p:txBody>
          <a:bodyPr wrap="square" lIns="0" tIns="0" rIns="0" bIns="0" rtlCol="0" anchor="t"/>
          <a:lstStyle/>
          <a:p>
            <a:pPr algn="ctr" indent="0" marL="0">
              <a:buNone/>
            </a:pPr>
            <a:r>
              <a:rPr lang="en-US" sz="1100" dirty="0">
                <a:solidFill>
                  <a:srgbClr val="475569"/>
                </a:solidFill>
                <a:latin typeface="Calibri" pitchFamily="34" charset="0"/>
                <a:ea typeface="Calibri" pitchFamily="34" charset="-122"/>
                <a:cs typeface="Calibri" pitchFamily="34" charset="-120"/>
              </a:rPr>
              <a:t>Disponibilité</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24h/24 · 7j/7</a:t>
            </a:r>
            <a:endParaRPr lang="en-US" sz="1100" dirty="0"/>
          </a:p>
        </p:txBody>
      </p:sp>
      <p:sp>
        <p:nvSpPr>
          <p:cNvPr id="8" name="Shape 6"/>
          <p:cNvSpPr/>
          <p:nvPr/>
        </p:nvSpPr>
        <p:spPr>
          <a:xfrm>
            <a:off x="2514600" y="777240"/>
            <a:ext cx="1920240" cy="3108960"/>
          </a:xfrm>
          <a:prstGeom prst="rect">
            <a:avLst/>
          </a:prstGeom>
          <a:solidFill>
            <a:srgbClr val="F0F9FF"/>
          </a:solidFill>
          <a:ln w="12700">
            <a:solidFill>
              <a:srgbClr val="E2E8F0"/>
            </a:solidFill>
            <a:prstDash val="solid"/>
          </a:ln>
        </p:spPr>
      </p:sp>
      <p:sp>
        <p:nvSpPr>
          <p:cNvPr id="9" name="Shape 7"/>
          <p:cNvSpPr/>
          <p:nvPr/>
        </p:nvSpPr>
        <p:spPr>
          <a:xfrm>
            <a:off x="2514600" y="777240"/>
            <a:ext cx="1920240" cy="73152"/>
          </a:xfrm>
          <a:prstGeom prst="rect">
            <a:avLst/>
          </a:prstGeom>
          <a:solidFill>
            <a:srgbClr val="0369A1"/>
          </a:solidFill>
          <a:ln w="12700">
            <a:solidFill>
              <a:srgbClr val="0369A1"/>
            </a:solidFill>
            <a:prstDash val="solid"/>
          </a:ln>
        </p:spPr>
      </p:sp>
      <p:sp>
        <p:nvSpPr>
          <p:cNvPr id="10" name="Text 8"/>
          <p:cNvSpPr/>
          <p:nvPr/>
        </p:nvSpPr>
        <p:spPr>
          <a:xfrm>
            <a:off x="2514600" y="1188720"/>
            <a:ext cx="1920240" cy="1280160"/>
          </a:xfrm>
          <a:prstGeom prst="rect">
            <a:avLst/>
          </a:prstGeom>
          <a:noFill/>
          <a:ln/>
        </p:spPr>
        <p:txBody>
          <a:bodyPr wrap="square" lIns="0" tIns="0" rIns="0" bIns="0" rtlCol="0" anchor="ctr"/>
          <a:lstStyle/>
          <a:p>
            <a:pPr algn="ctr" indent="0" marL="0">
              <a:buNone/>
            </a:pPr>
            <a:r>
              <a:rPr lang="en-US" sz="3600" b="1" dirty="0">
                <a:solidFill>
                  <a:srgbClr val="0369A1"/>
                </a:solidFill>
                <a:latin typeface="Calibri" pitchFamily="34" charset="0"/>
                <a:ea typeface="Calibri" pitchFamily="34" charset="-122"/>
                <a:cs typeface="Calibri" pitchFamily="34" charset="-120"/>
              </a:rPr>
              <a:t>&lt; 2s</a:t>
            </a:r>
            <a:endParaRPr lang="en-US" sz="3600" dirty="0"/>
          </a:p>
        </p:txBody>
      </p:sp>
      <p:sp>
        <p:nvSpPr>
          <p:cNvPr id="11" name="Text 9"/>
          <p:cNvSpPr/>
          <p:nvPr/>
        </p:nvSpPr>
        <p:spPr>
          <a:xfrm>
            <a:off x="2514600" y="2560320"/>
            <a:ext cx="1920240" cy="1188720"/>
          </a:xfrm>
          <a:prstGeom prst="rect">
            <a:avLst/>
          </a:prstGeom>
          <a:noFill/>
          <a:ln/>
        </p:spPr>
        <p:txBody>
          <a:bodyPr wrap="square" lIns="0" tIns="0" rIns="0" bIns="0" rtlCol="0" anchor="t"/>
          <a:lstStyle/>
          <a:p>
            <a:pPr algn="ctr" indent="0" marL="0">
              <a:buNone/>
            </a:pPr>
            <a:r>
              <a:rPr lang="en-US" sz="1100" dirty="0">
                <a:solidFill>
                  <a:srgbClr val="475569"/>
                </a:solidFill>
                <a:latin typeface="Calibri" pitchFamily="34" charset="0"/>
                <a:ea typeface="Calibri" pitchFamily="34" charset="-122"/>
                <a:cs typeface="Calibri" pitchFamily="34" charset="-120"/>
              </a:rPr>
              <a:t>Temps de réponse</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modèles IA &amp; LLM</a:t>
            </a:r>
            <a:endParaRPr lang="en-US" sz="1100" dirty="0"/>
          </a:p>
        </p:txBody>
      </p:sp>
      <p:sp>
        <p:nvSpPr>
          <p:cNvPr id="12" name="Shape 10"/>
          <p:cNvSpPr/>
          <p:nvPr/>
        </p:nvSpPr>
        <p:spPr>
          <a:xfrm>
            <a:off x="4663440" y="777240"/>
            <a:ext cx="1920240" cy="3108960"/>
          </a:xfrm>
          <a:prstGeom prst="rect">
            <a:avLst/>
          </a:prstGeom>
          <a:solidFill>
            <a:srgbClr val="F0F9FF"/>
          </a:solidFill>
          <a:ln w="12700">
            <a:solidFill>
              <a:srgbClr val="E2E8F0"/>
            </a:solidFill>
            <a:prstDash val="solid"/>
          </a:ln>
        </p:spPr>
      </p:sp>
      <p:sp>
        <p:nvSpPr>
          <p:cNvPr id="13" name="Shape 11"/>
          <p:cNvSpPr/>
          <p:nvPr/>
        </p:nvSpPr>
        <p:spPr>
          <a:xfrm>
            <a:off x="4663440" y="777240"/>
            <a:ext cx="1920240" cy="73152"/>
          </a:xfrm>
          <a:prstGeom prst="rect">
            <a:avLst/>
          </a:prstGeom>
          <a:solidFill>
            <a:srgbClr val="7C3AED"/>
          </a:solidFill>
          <a:ln w="12700">
            <a:solidFill>
              <a:srgbClr val="7C3AED"/>
            </a:solidFill>
            <a:prstDash val="solid"/>
          </a:ln>
        </p:spPr>
      </p:sp>
      <p:sp>
        <p:nvSpPr>
          <p:cNvPr id="14" name="Text 12"/>
          <p:cNvSpPr/>
          <p:nvPr/>
        </p:nvSpPr>
        <p:spPr>
          <a:xfrm>
            <a:off x="4663440" y="1188720"/>
            <a:ext cx="1920240" cy="1280160"/>
          </a:xfrm>
          <a:prstGeom prst="rect">
            <a:avLst/>
          </a:prstGeom>
          <a:noFill/>
          <a:ln/>
        </p:spPr>
        <p:txBody>
          <a:bodyPr wrap="square" lIns="0" tIns="0" rIns="0" bIns="0" rtlCol="0" anchor="ctr"/>
          <a:lstStyle/>
          <a:p>
            <a:pPr algn="ctr" indent="0" marL="0">
              <a:buNone/>
            </a:pPr>
            <a:r>
              <a:rPr lang="en-US" sz="3600" b="1" dirty="0">
                <a:solidFill>
                  <a:srgbClr val="7C3AED"/>
                </a:solidFill>
                <a:latin typeface="Calibri" pitchFamily="34" charset="0"/>
                <a:ea typeface="Calibri" pitchFamily="34" charset="-122"/>
                <a:cs typeface="Calibri" pitchFamily="34" charset="-120"/>
              </a:rPr>
              <a:t>4</a:t>
            </a:r>
            <a:endParaRPr lang="en-US" sz="3600" dirty="0"/>
          </a:p>
        </p:txBody>
      </p:sp>
      <p:sp>
        <p:nvSpPr>
          <p:cNvPr id="15" name="Text 13"/>
          <p:cNvSpPr/>
          <p:nvPr/>
        </p:nvSpPr>
        <p:spPr>
          <a:xfrm>
            <a:off x="4663440" y="2560320"/>
            <a:ext cx="1920240" cy="1188720"/>
          </a:xfrm>
          <a:prstGeom prst="rect">
            <a:avLst/>
          </a:prstGeom>
          <a:noFill/>
          <a:ln/>
        </p:spPr>
        <p:txBody>
          <a:bodyPr wrap="square" lIns="0" tIns="0" rIns="0" bIns="0" rtlCol="0" anchor="t"/>
          <a:lstStyle/>
          <a:p>
            <a:pPr algn="ctr" indent="0" marL="0">
              <a:buNone/>
            </a:pPr>
            <a:r>
              <a:rPr lang="en-US" sz="1100" dirty="0">
                <a:solidFill>
                  <a:srgbClr val="475569"/>
                </a:solidFill>
                <a:latin typeface="Calibri" pitchFamily="34" charset="0"/>
                <a:ea typeface="Calibri" pitchFamily="34" charset="-122"/>
                <a:cs typeface="Calibri" pitchFamily="34" charset="-120"/>
              </a:rPr>
              <a:t>Rôles distincts</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gérés par RBAC</a:t>
            </a:r>
            <a:endParaRPr lang="en-US" sz="1100" dirty="0"/>
          </a:p>
        </p:txBody>
      </p:sp>
      <p:sp>
        <p:nvSpPr>
          <p:cNvPr id="16" name="Shape 14"/>
          <p:cNvSpPr/>
          <p:nvPr/>
        </p:nvSpPr>
        <p:spPr>
          <a:xfrm>
            <a:off x="6812280" y="777240"/>
            <a:ext cx="1920240" cy="3108960"/>
          </a:xfrm>
          <a:prstGeom prst="rect">
            <a:avLst/>
          </a:prstGeom>
          <a:solidFill>
            <a:srgbClr val="F0F9FF"/>
          </a:solidFill>
          <a:ln w="12700">
            <a:solidFill>
              <a:srgbClr val="E2E8F0"/>
            </a:solidFill>
            <a:prstDash val="solid"/>
          </a:ln>
        </p:spPr>
      </p:sp>
      <p:sp>
        <p:nvSpPr>
          <p:cNvPr id="17" name="Shape 15"/>
          <p:cNvSpPr/>
          <p:nvPr/>
        </p:nvSpPr>
        <p:spPr>
          <a:xfrm>
            <a:off x="6812280" y="777240"/>
            <a:ext cx="1920240" cy="73152"/>
          </a:xfrm>
          <a:prstGeom prst="rect">
            <a:avLst/>
          </a:prstGeom>
          <a:solidFill>
            <a:srgbClr val="0F766E"/>
          </a:solidFill>
          <a:ln w="12700">
            <a:solidFill>
              <a:srgbClr val="0F766E"/>
            </a:solidFill>
            <a:prstDash val="solid"/>
          </a:ln>
        </p:spPr>
      </p:sp>
      <p:sp>
        <p:nvSpPr>
          <p:cNvPr id="18" name="Text 16"/>
          <p:cNvSpPr/>
          <p:nvPr/>
        </p:nvSpPr>
        <p:spPr>
          <a:xfrm>
            <a:off x="6812280" y="1188720"/>
            <a:ext cx="1920240" cy="1280160"/>
          </a:xfrm>
          <a:prstGeom prst="rect">
            <a:avLst/>
          </a:prstGeom>
          <a:noFill/>
          <a:ln/>
        </p:spPr>
        <p:txBody>
          <a:bodyPr wrap="square" lIns="0" tIns="0" rIns="0" bIns="0" rtlCol="0" anchor="ctr"/>
          <a:lstStyle/>
          <a:p>
            <a:pPr algn="ctr" indent="0" marL="0">
              <a:buNone/>
            </a:pPr>
            <a:r>
              <a:rPr lang="en-US" sz="3600" b="1" dirty="0">
                <a:solidFill>
                  <a:srgbClr val="0F766E"/>
                </a:solidFill>
                <a:latin typeface="Calibri" pitchFamily="34" charset="0"/>
                <a:ea typeface="Calibri" pitchFamily="34" charset="-122"/>
                <a:cs typeface="Calibri" pitchFamily="34" charset="-120"/>
              </a:rPr>
              <a:t>100%</a:t>
            </a:r>
            <a:endParaRPr lang="en-US" sz="3600" dirty="0"/>
          </a:p>
        </p:txBody>
      </p:sp>
      <p:sp>
        <p:nvSpPr>
          <p:cNvPr id="19" name="Text 17"/>
          <p:cNvSpPr/>
          <p:nvPr/>
        </p:nvSpPr>
        <p:spPr>
          <a:xfrm>
            <a:off x="6812280" y="2560320"/>
            <a:ext cx="1920240" cy="1188720"/>
          </a:xfrm>
          <a:prstGeom prst="rect">
            <a:avLst/>
          </a:prstGeom>
          <a:noFill/>
          <a:ln/>
        </p:spPr>
        <p:txBody>
          <a:bodyPr wrap="square" lIns="0" tIns="0" rIns="0" bIns="0" rtlCol="0" anchor="t"/>
          <a:lstStyle/>
          <a:p>
            <a:pPr algn="ctr" indent="0" marL="0">
              <a:buNone/>
            </a:pPr>
            <a:r>
              <a:rPr lang="en-US" sz="1100" dirty="0">
                <a:solidFill>
                  <a:srgbClr val="475569"/>
                </a:solidFill>
                <a:latin typeface="Calibri" pitchFamily="34" charset="0"/>
                <a:ea typeface="Calibri" pitchFamily="34" charset="-122"/>
                <a:cs typeface="Calibri" pitchFamily="34" charset="-120"/>
              </a:rPr>
              <a:t>Données</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chiffrées</a:t>
            </a:r>
            <a:endParaRPr lang="en-US" sz="1100" dirty="0"/>
          </a:p>
        </p:txBody>
      </p:sp>
      <p:pic>
        <p:nvPicPr>
          <p:cNvPr id="20" name="Image 0" descr="preencoded.png"/>
          <p:cNvPicPr>
            <a:picLocks noChangeAspect="1"/>
          </p:cNvPicPr>
          <p:nvPr/>
        </p:nvPicPr>
        <p:blipFill>
          <a:blip r:embed="rId1"/>
          <a:stretch>
            <a:fillRect/>
          </a:stretch>
        </p:blipFill>
        <p:spPr>
          <a:xfrm>
            <a:off x="411480" y="4114800"/>
            <a:ext cx="502920" cy="502920"/>
          </a:xfrm>
          <a:prstGeom prst="rect">
            <a:avLst/>
          </a:prstGeom>
        </p:spPr>
      </p:pic>
      <p:sp>
        <p:nvSpPr>
          <p:cNvPr id="21" name="Text 18"/>
          <p:cNvSpPr/>
          <p:nvPr/>
        </p:nvSpPr>
        <p:spPr>
          <a:xfrm>
            <a:off x="1005840" y="4114800"/>
            <a:ext cx="7772400" cy="50292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Infrastructure haute disponibilité — aucune interruption du workflow médical tolérée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0"/>
            <a:ext cx="822960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SYNTHÈSE — ARCHITECTURE FONCTIONNELLE</a:t>
            </a:r>
            <a:endParaRPr lang="en-US" sz="1400" dirty="0"/>
          </a:p>
        </p:txBody>
      </p:sp>
      <p:sp>
        <p:nvSpPr>
          <p:cNvPr id="4" name="Shape 2"/>
          <p:cNvSpPr/>
          <p:nvPr/>
        </p:nvSpPr>
        <p:spPr>
          <a:xfrm>
            <a:off x="411480" y="822960"/>
            <a:ext cx="1828800" cy="2194560"/>
          </a:xfrm>
          <a:prstGeom prst="rect">
            <a:avLst/>
          </a:prstGeom>
          <a:solidFill>
            <a:srgbClr val="0891B2"/>
          </a:solidFill>
          <a:ln w="12700">
            <a:solidFill>
              <a:srgbClr val="0891B2"/>
            </a:solidFill>
            <a:prstDash val="solid"/>
          </a:ln>
          <a:effectLst>
            <a:outerShdw sx="100000" sy="100000" kx="0" ky="0" algn="bl" rotWithShape="0" blurRad="101600" dist="38100" dir="8100000">
              <a:srgbClr val="000000">
                <a:alpha val="15000"/>
              </a:srgbClr>
            </a:outerShdw>
          </a:effectLst>
        </p:spPr>
      </p:sp>
      <p:sp>
        <p:nvSpPr>
          <p:cNvPr id="5" name="Text 3"/>
          <p:cNvSpPr/>
          <p:nvPr/>
        </p:nvSpPr>
        <p:spPr>
          <a:xfrm>
            <a:off x="411480" y="822960"/>
            <a:ext cx="1828800" cy="2194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Gestion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Utilisateurs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&amp; RBAC</a:t>
            </a:r>
            <a:endParaRPr lang="en-US" sz="1300" dirty="0"/>
          </a:p>
        </p:txBody>
      </p:sp>
      <p:sp>
        <p:nvSpPr>
          <p:cNvPr id="6" name="Shape 4"/>
          <p:cNvSpPr/>
          <p:nvPr/>
        </p:nvSpPr>
        <p:spPr>
          <a:xfrm>
            <a:off x="2240280" y="1920240"/>
            <a:ext cx="320040" cy="0"/>
          </a:xfrm>
          <a:prstGeom prst="line">
            <a:avLst/>
          </a:prstGeom>
          <a:noFill/>
          <a:ln w="25400">
            <a:solidFill>
              <a:srgbClr val="94A3B8"/>
            </a:solidFill>
            <a:prstDash val="solid"/>
          </a:ln>
        </p:spPr>
      </p:sp>
      <p:sp>
        <p:nvSpPr>
          <p:cNvPr id="7" name="Shape 5"/>
          <p:cNvSpPr/>
          <p:nvPr/>
        </p:nvSpPr>
        <p:spPr>
          <a:xfrm>
            <a:off x="2560320" y="822960"/>
            <a:ext cx="1828800" cy="2194560"/>
          </a:xfrm>
          <a:prstGeom prst="rect">
            <a:avLst/>
          </a:prstGeom>
          <a:solidFill>
            <a:srgbClr val="0369A1"/>
          </a:solidFill>
          <a:ln w="12700">
            <a:solidFill>
              <a:srgbClr val="0369A1"/>
            </a:solidFill>
            <a:prstDash val="solid"/>
          </a:ln>
          <a:effectLst>
            <a:outerShdw sx="100000" sy="100000" kx="0" ky="0" algn="bl" rotWithShape="0" blurRad="101600" dist="38100" dir="8100000">
              <a:srgbClr val="000000">
                <a:alpha val="15000"/>
              </a:srgbClr>
            </a:outerShdw>
          </a:effectLst>
        </p:spPr>
      </p:sp>
      <p:sp>
        <p:nvSpPr>
          <p:cNvPr id="8" name="Text 6"/>
          <p:cNvSpPr/>
          <p:nvPr/>
        </p:nvSpPr>
        <p:spPr>
          <a:xfrm>
            <a:off x="2560320" y="822960"/>
            <a:ext cx="1828800" cy="2194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Données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de Santé</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Sécurisées</a:t>
            </a:r>
            <a:endParaRPr lang="en-US" sz="1300" dirty="0"/>
          </a:p>
        </p:txBody>
      </p:sp>
      <p:sp>
        <p:nvSpPr>
          <p:cNvPr id="9" name="Shape 7"/>
          <p:cNvSpPr/>
          <p:nvPr/>
        </p:nvSpPr>
        <p:spPr>
          <a:xfrm>
            <a:off x="4389120" y="1920240"/>
            <a:ext cx="320040" cy="0"/>
          </a:xfrm>
          <a:prstGeom prst="line">
            <a:avLst/>
          </a:prstGeom>
          <a:noFill/>
          <a:ln w="25400">
            <a:solidFill>
              <a:srgbClr val="94A3B8"/>
            </a:solidFill>
            <a:prstDash val="solid"/>
          </a:ln>
        </p:spPr>
      </p:sp>
      <p:sp>
        <p:nvSpPr>
          <p:cNvPr id="10" name="Shape 8"/>
          <p:cNvSpPr/>
          <p:nvPr/>
        </p:nvSpPr>
        <p:spPr>
          <a:xfrm>
            <a:off x="4709160" y="822960"/>
            <a:ext cx="1828800" cy="2194560"/>
          </a:xfrm>
          <a:prstGeom prst="rect">
            <a:avLst/>
          </a:prstGeom>
          <a:solidFill>
            <a:srgbClr val="7C3AED"/>
          </a:solidFill>
          <a:ln w="12700">
            <a:solidFill>
              <a:srgbClr val="7C3AED"/>
            </a:solidFill>
            <a:prstDash val="solid"/>
          </a:ln>
          <a:effectLst>
            <a:outerShdw sx="100000" sy="100000" kx="0" ky="0" algn="bl" rotWithShape="0" blurRad="101600" dist="38100" dir="8100000">
              <a:srgbClr val="000000">
                <a:alpha val="15000"/>
              </a:srgbClr>
            </a:outerShdw>
          </a:effectLst>
        </p:spPr>
      </p:sp>
      <p:sp>
        <p:nvSpPr>
          <p:cNvPr id="11" name="Text 9"/>
          <p:cNvSpPr/>
          <p:nvPr/>
        </p:nvSpPr>
        <p:spPr>
          <a:xfrm>
            <a:off x="4709160" y="822960"/>
            <a:ext cx="1828800" cy="2194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IA</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Diagnostique</a:t>
            </a:r>
            <a:endParaRPr lang="en-US" sz="1300" dirty="0"/>
          </a:p>
        </p:txBody>
      </p:sp>
      <p:sp>
        <p:nvSpPr>
          <p:cNvPr id="12" name="Shape 10"/>
          <p:cNvSpPr/>
          <p:nvPr/>
        </p:nvSpPr>
        <p:spPr>
          <a:xfrm>
            <a:off x="6537960" y="1920240"/>
            <a:ext cx="320040" cy="0"/>
          </a:xfrm>
          <a:prstGeom prst="line">
            <a:avLst/>
          </a:prstGeom>
          <a:noFill/>
          <a:ln w="25400">
            <a:solidFill>
              <a:srgbClr val="94A3B8"/>
            </a:solidFill>
            <a:prstDash val="solid"/>
          </a:ln>
        </p:spPr>
      </p:sp>
      <p:sp>
        <p:nvSpPr>
          <p:cNvPr id="13" name="Shape 11"/>
          <p:cNvSpPr/>
          <p:nvPr/>
        </p:nvSpPr>
        <p:spPr>
          <a:xfrm>
            <a:off x="6858000" y="822960"/>
            <a:ext cx="1828800" cy="2194560"/>
          </a:xfrm>
          <a:prstGeom prst="rect">
            <a:avLst/>
          </a:prstGeom>
          <a:solidFill>
            <a:srgbClr val="0F766E"/>
          </a:solidFill>
          <a:ln w="12700">
            <a:solidFill>
              <a:srgbClr val="0F766E"/>
            </a:solidFill>
            <a:prstDash val="solid"/>
          </a:ln>
          <a:effectLst>
            <a:outerShdw sx="100000" sy="100000" kx="0" ky="0" algn="bl" rotWithShape="0" blurRad="101600" dist="38100" dir="8100000">
              <a:srgbClr val="000000">
                <a:alpha val="15000"/>
              </a:srgbClr>
            </a:outerShdw>
          </a:effectLst>
        </p:spPr>
      </p:sp>
      <p:sp>
        <p:nvSpPr>
          <p:cNvPr id="14" name="Text 12"/>
          <p:cNvSpPr/>
          <p:nvPr/>
        </p:nvSpPr>
        <p:spPr>
          <a:xfrm>
            <a:off x="6858000" y="822960"/>
            <a:ext cx="1828800" cy="2194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Assistant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LLM</a:t>
            </a:r>
            <a:endParaRPr lang="en-US" sz="1300" dirty="0"/>
          </a:p>
        </p:txBody>
      </p:sp>
      <p:sp>
        <p:nvSpPr>
          <p:cNvPr id="15" name="Text 13"/>
          <p:cNvSpPr/>
          <p:nvPr/>
        </p:nvSpPr>
        <p:spPr>
          <a:xfrm>
            <a:off x="411480" y="3246120"/>
            <a:ext cx="8321040" cy="3657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Exigences Transverses</a:t>
            </a:r>
            <a:endParaRPr lang="en-US" sz="1300" dirty="0"/>
          </a:p>
        </p:txBody>
      </p:sp>
      <p:sp>
        <p:nvSpPr>
          <p:cNvPr id="16" name="Shape 14"/>
          <p:cNvSpPr/>
          <p:nvPr/>
        </p:nvSpPr>
        <p:spPr>
          <a:xfrm>
            <a:off x="411480" y="3703320"/>
            <a:ext cx="1828800" cy="1143000"/>
          </a:xfrm>
          <a:prstGeom prst="rect">
            <a:avLst/>
          </a:prstGeom>
          <a:solidFill>
            <a:srgbClr val="DC2626">
              <a:alpha val="90000"/>
            </a:srgbClr>
          </a:solidFill>
          <a:ln w="12700">
            <a:solidFill>
              <a:srgbClr val="DC2626"/>
            </a:solidFill>
            <a:prstDash val="solid"/>
          </a:ln>
        </p:spPr>
      </p:sp>
      <p:sp>
        <p:nvSpPr>
          <p:cNvPr id="17" name="Text 15"/>
          <p:cNvSpPr/>
          <p:nvPr/>
        </p:nvSpPr>
        <p:spPr>
          <a:xfrm>
            <a:off x="411480" y="3703320"/>
            <a:ext cx="1828800" cy="11430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Sécurité &amp; Chiffrement</a:t>
            </a:r>
            <a:endParaRPr lang="en-US" sz="1100" dirty="0"/>
          </a:p>
        </p:txBody>
      </p:sp>
      <p:sp>
        <p:nvSpPr>
          <p:cNvPr id="18" name="Shape 16"/>
          <p:cNvSpPr/>
          <p:nvPr/>
        </p:nvSpPr>
        <p:spPr>
          <a:xfrm>
            <a:off x="2560320" y="3703320"/>
            <a:ext cx="1828800" cy="1143000"/>
          </a:xfrm>
          <a:prstGeom prst="rect">
            <a:avLst/>
          </a:prstGeom>
          <a:solidFill>
            <a:srgbClr val="D97706">
              <a:alpha val="90000"/>
            </a:srgbClr>
          </a:solidFill>
          <a:ln w="12700">
            <a:solidFill>
              <a:srgbClr val="D97706"/>
            </a:solidFill>
            <a:prstDash val="solid"/>
          </a:ln>
        </p:spPr>
      </p:sp>
      <p:sp>
        <p:nvSpPr>
          <p:cNvPr id="19" name="Text 17"/>
          <p:cNvSpPr/>
          <p:nvPr/>
        </p:nvSpPr>
        <p:spPr>
          <a:xfrm>
            <a:off x="2560320" y="3703320"/>
            <a:ext cx="1828800" cy="11430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Conformité RGPD / HIPAA</a:t>
            </a:r>
            <a:endParaRPr lang="en-US" sz="1100" dirty="0"/>
          </a:p>
        </p:txBody>
      </p:sp>
      <p:sp>
        <p:nvSpPr>
          <p:cNvPr id="20" name="Shape 18"/>
          <p:cNvSpPr/>
          <p:nvPr/>
        </p:nvSpPr>
        <p:spPr>
          <a:xfrm>
            <a:off x="4709160" y="3703320"/>
            <a:ext cx="1828800" cy="1143000"/>
          </a:xfrm>
          <a:prstGeom prst="rect">
            <a:avLst/>
          </a:prstGeom>
          <a:solidFill>
            <a:srgbClr val="059669">
              <a:alpha val="90000"/>
            </a:srgbClr>
          </a:solidFill>
          <a:ln w="12700">
            <a:solidFill>
              <a:srgbClr val="059669"/>
            </a:solidFill>
            <a:prstDash val="solid"/>
          </a:ln>
        </p:spPr>
      </p:sp>
      <p:sp>
        <p:nvSpPr>
          <p:cNvPr id="21" name="Text 19"/>
          <p:cNvSpPr/>
          <p:nvPr/>
        </p:nvSpPr>
        <p:spPr>
          <a:xfrm>
            <a:off x="4709160" y="3703320"/>
            <a:ext cx="1828800" cy="11430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Audit &amp; Traçabilité</a:t>
            </a:r>
            <a:endParaRPr lang="en-US" sz="1100" dirty="0"/>
          </a:p>
        </p:txBody>
      </p:sp>
      <p:sp>
        <p:nvSpPr>
          <p:cNvPr id="22" name="Shape 20"/>
          <p:cNvSpPr/>
          <p:nvPr/>
        </p:nvSpPr>
        <p:spPr>
          <a:xfrm>
            <a:off x="6858000" y="3703320"/>
            <a:ext cx="1828800" cy="1143000"/>
          </a:xfrm>
          <a:prstGeom prst="rect">
            <a:avLst/>
          </a:prstGeom>
          <a:solidFill>
            <a:srgbClr val="7C3AED">
              <a:alpha val="90000"/>
            </a:srgbClr>
          </a:solidFill>
          <a:ln w="12700">
            <a:solidFill>
              <a:srgbClr val="7C3AED"/>
            </a:solidFill>
            <a:prstDash val="solid"/>
          </a:ln>
        </p:spPr>
      </p:sp>
      <p:sp>
        <p:nvSpPr>
          <p:cNvPr id="23" name="Text 21"/>
          <p:cNvSpPr/>
          <p:nvPr/>
        </p:nvSpPr>
        <p:spPr>
          <a:xfrm>
            <a:off x="6858000" y="3703320"/>
            <a:ext cx="1828800" cy="11430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Haute Disponibilité 99.9%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943600" y="1828800"/>
            <a:ext cx="4572000" cy="4572000"/>
          </a:xfrm>
          <a:prstGeom prst="ellipse">
            <a:avLst/>
          </a:prstGeom>
          <a:solidFill>
            <a:srgbClr val="0891B2">
              <a:alpha val="10000"/>
            </a:srgbClr>
          </a:solidFill>
          <a:ln w="12700">
            <a:solidFill>
              <a:srgbClr val="0891B2">
                <a:alpha val="20000"/>
              </a:srgbClr>
            </a:solidFill>
            <a:prstDash val="solid"/>
          </a:ln>
        </p:spPr>
      </p:sp>
      <p:sp>
        <p:nvSpPr>
          <p:cNvPr id="3" name="Shape 1"/>
          <p:cNvSpPr/>
          <p:nvPr/>
        </p:nvSpPr>
        <p:spPr>
          <a:xfrm>
            <a:off x="6583680" y="2560320"/>
            <a:ext cx="3200400" cy="3200400"/>
          </a:xfrm>
          <a:prstGeom prst="ellipse">
            <a:avLst/>
          </a:prstGeom>
          <a:solidFill>
            <a:srgbClr val="06B6D4">
              <a:alpha val="15000"/>
            </a:srgbClr>
          </a:solidFill>
          <a:ln w="12700">
            <a:solidFill>
              <a:srgbClr val="06B6D4">
                <a:alpha val="25000"/>
              </a:srgbClr>
            </a:solidFill>
            <a:prstDash val="solid"/>
          </a:ln>
        </p:spPr>
      </p:sp>
      <p:sp>
        <p:nvSpPr>
          <p:cNvPr id="4" name="Shape 2"/>
          <p:cNvSpPr/>
          <p:nvPr/>
        </p:nvSpPr>
        <p:spPr>
          <a:xfrm>
            <a:off x="0" y="0"/>
            <a:ext cx="164592" cy="5143500"/>
          </a:xfrm>
          <a:prstGeom prst="rect">
            <a:avLst/>
          </a:prstGeom>
          <a:solidFill>
            <a:srgbClr val="0891B2"/>
          </a:solidFill>
          <a:ln w="12700">
            <a:solidFill>
              <a:srgbClr val="0891B2"/>
            </a:solidFill>
            <a:prstDash val="solid"/>
          </a:ln>
        </p:spPr>
      </p:sp>
      <p:sp>
        <p:nvSpPr>
          <p:cNvPr id="5" name="Text 3"/>
          <p:cNvSpPr/>
          <p:nvPr/>
        </p:nvSpPr>
        <p:spPr>
          <a:xfrm>
            <a:off x="411480" y="640080"/>
            <a:ext cx="5486400" cy="548640"/>
          </a:xfrm>
          <a:prstGeom prst="rect">
            <a:avLst/>
          </a:prstGeom>
          <a:noFill/>
          <a:ln/>
        </p:spPr>
        <p:txBody>
          <a:bodyPr wrap="square" lIns="0" tIns="0" rIns="0" bIns="0" rtlCol="0" anchor="ctr"/>
          <a:lstStyle/>
          <a:p>
            <a:pPr indent="0" marL="0">
              <a:buNone/>
            </a:pPr>
            <a:r>
              <a:rPr lang="en-US" sz="1600" b="1" dirty="0">
                <a:solidFill>
                  <a:srgbClr val="0891B2"/>
                </a:solidFill>
                <a:latin typeface="Calibri" pitchFamily="34" charset="0"/>
                <a:ea typeface="Calibri" pitchFamily="34" charset="-122"/>
                <a:cs typeface="Calibri" pitchFamily="34" charset="-120"/>
              </a:rPr>
              <a:t>En Résumé</a:t>
            </a:r>
            <a:endParaRPr lang="en-US" sz="1600" dirty="0"/>
          </a:p>
        </p:txBody>
      </p:sp>
      <p:sp>
        <p:nvSpPr>
          <p:cNvPr id="6" name="Text 4"/>
          <p:cNvSpPr/>
          <p:nvPr/>
        </p:nvSpPr>
        <p:spPr>
          <a:xfrm>
            <a:off x="411480" y="1234440"/>
            <a:ext cx="6858000" cy="13716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Une plateforme médicale</a:t>
            </a:r>
            <a:endParaRPr lang="en-US" sz="3000" dirty="0"/>
          </a:p>
          <a:p>
            <a:pPr indent="0" marL="0">
              <a:buNone/>
            </a:pPr>
            <a:r>
              <a:rPr lang="en-US" sz="3000" b="1" dirty="0">
                <a:solidFill>
                  <a:srgbClr val="FFFFFF"/>
                </a:solidFill>
                <a:latin typeface="Calibri" pitchFamily="34" charset="0"/>
                <a:ea typeface="Calibri" pitchFamily="34" charset="-122"/>
                <a:cs typeface="Calibri" pitchFamily="34" charset="-120"/>
              </a:rPr>
              <a:t>de nouvelle génération</a:t>
            </a:r>
            <a:endParaRPr lang="en-US" sz="3000" dirty="0"/>
          </a:p>
        </p:txBody>
      </p:sp>
      <p:sp>
        <p:nvSpPr>
          <p:cNvPr id="7" name="Text 5"/>
          <p:cNvSpPr/>
          <p:nvPr/>
        </p:nvSpPr>
        <p:spPr>
          <a:xfrm>
            <a:off x="411480" y="2743200"/>
            <a:ext cx="6400800" cy="2011680"/>
          </a:xfrm>
          <a:prstGeom prst="rect">
            <a:avLst/>
          </a:prstGeom>
          <a:noFill/>
          <a:ln/>
        </p:spPr>
        <p:txBody>
          <a:bodyPr wrap="square" rtlCol="0" anchor="ctr"/>
          <a:lstStyle/>
          <a:p>
            <a:pPr marL="342900" indent="-342900">
              <a:spcAft>
                <a:spcPts val="600"/>
              </a:spcAft>
              <a:buSzPct val="100000"/>
              <a:buChar char="•"/>
            </a:pPr>
            <a:r>
              <a:rPr lang="en-US" sz="1300" dirty="0">
                <a:solidFill>
                  <a:srgbClr val="A5D8E6"/>
                </a:solidFill>
                <a:latin typeface="Calibri" pitchFamily="34" charset="0"/>
                <a:ea typeface="Calibri" pitchFamily="34" charset="-122"/>
                <a:cs typeface="Calibri" pitchFamily="34" charset="-120"/>
              </a:rPr>
              <a:t>4 modules fonctionnels intégrés : Utilisateurs, Données, IA, LLM</a:t>
            </a:r>
            <a:endParaRPr lang="en-US" sz="1300" dirty="0"/>
          </a:p>
          <a:p>
            <a:pPr marL="342900" indent="-342900">
              <a:spcAft>
                <a:spcPts val="600"/>
              </a:spcAft>
              <a:buSzPct val="100000"/>
              <a:buChar char="•"/>
            </a:pPr>
            <a:r>
              <a:rPr lang="en-US" sz="1300" dirty="0">
                <a:solidFill>
                  <a:srgbClr val="A5D8E6"/>
                </a:solidFill>
                <a:latin typeface="Calibri" pitchFamily="34" charset="0"/>
                <a:ea typeface="Calibri" pitchFamily="34" charset="-122"/>
                <a:cs typeface="Calibri" pitchFamily="34" charset="-120"/>
              </a:rPr>
              <a:t>Sécurité de bout en bout &amp; conformité RGPD / HIPAA</a:t>
            </a:r>
            <a:endParaRPr lang="en-US" sz="1300" dirty="0"/>
          </a:p>
          <a:p>
            <a:pPr marL="342900" indent="-342900">
              <a:spcAft>
                <a:spcPts val="600"/>
              </a:spcAft>
              <a:buSzPct val="100000"/>
              <a:buChar char="•"/>
            </a:pPr>
            <a:r>
              <a:rPr lang="en-US" sz="1300" dirty="0">
                <a:solidFill>
                  <a:srgbClr val="A5D8E6"/>
                </a:solidFill>
                <a:latin typeface="Calibri" pitchFamily="34" charset="0"/>
                <a:ea typeface="Calibri" pitchFamily="34" charset="-122"/>
                <a:cs typeface="Calibri" pitchFamily="34" charset="-120"/>
              </a:rPr>
              <a:t>Disponibilité 99.9% — Temps de réponse quasi-réel</a:t>
            </a:r>
            <a:endParaRPr lang="en-US" sz="1300" dirty="0"/>
          </a:p>
          <a:p>
            <a:pPr marL="342900" indent="-342900">
              <a:spcAft>
                <a:spcPts val="600"/>
              </a:spcAft>
              <a:buSzPct val="100000"/>
              <a:buChar char="•"/>
            </a:pPr>
            <a:r>
              <a:rPr lang="en-US" sz="1300" dirty="0">
                <a:solidFill>
                  <a:srgbClr val="A5D8E6"/>
                </a:solidFill>
                <a:latin typeface="Calibri" pitchFamily="34" charset="0"/>
                <a:ea typeface="Calibri" pitchFamily="34" charset="-122"/>
                <a:cs typeface="Calibri" pitchFamily="34" charset="-120"/>
              </a:rPr>
              <a:t>L'IA comme assistant, le médecin comme décideur final</a:t>
            </a:r>
            <a:endParaRPr lang="en-US" sz="1300" dirty="0"/>
          </a:p>
        </p:txBody>
      </p:sp>
      <p:sp>
        <p:nvSpPr>
          <p:cNvPr id="8" name="Text 6"/>
          <p:cNvSpPr/>
          <p:nvPr/>
        </p:nvSpPr>
        <p:spPr>
          <a:xfrm>
            <a:off x="411480" y="4709160"/>
            <a:ext cx="4572000" cy="320040"/>
          </a:xfrm>
          <a:prstGeom prst="rect">
            <a:avLst/>
          </a:prstGeom>
          <a:noFill/>
          <a:ln/>
        </p:spPr>
        <p:txBody>
          <a:bodyPr wrap="square" lIns="0" tIns="0" rIns="0" bIns="0" rtlCol="0" anchor="ctr"/>
          <a:lstStyle/>
          <a:p>
            <a:pPr indent="0" marL="0">
              <a:buNone/>
            </a:pPr>
            <a:r>
              <a:rPr lang="en-US" sz="1000" dirty="0">
                <a:solidFill>
                  <a:srgbClr val="5A8FA3"/>
                </a:solidFill>
                <a:latin typeface="Calibri" pitchFamily="34" charset="0"/>
                <a:ea typeface="Calibri" pitchFamily="34" charset="-122"/>
                <a:cs typeface="Calibri" pitchFamily="34" charset="-120"/>
              </a:rPr>
              <a:t>Plateforme Médicale Intégrée — CDC 2025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Plateforme Médicale Intégrée — Cahier des Charges</dc:title>
  <dc:subject>PptxGenJS Presentation</dc:subject>
  <dc:creator>PptxGenJS</dc:creator>
  <cp:lastModifiedBy>PptxGenJS</cp:lastModifiedBy>
  <cp:revision>1</cp:revision>
  <dcterms:created xsi:type="dcterms:W3CDTF">2026-05-12T07:43:09Z</dcterms:created>
  <dcterms:modified xsi:type="dcterms:W3CDTF">2026-05-12T07:43:09Z</dcterms:modified>
</cp:coreProperties>
</file>